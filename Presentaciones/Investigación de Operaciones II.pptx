
<file path=[Content_Types].xml><?xml version="1.0" encoding="utf-8"?>
<Types xmlns="http://schemas.openxmlformats.org/package/2006/content-types">
  <Default ContentType="application/x-fontdata" Extension="fntdata"/>
  <Default ContentType="image/png" Extension="png"/>
  <Default ContentType="application/vnd.openxmlformats-package.relationships+xml" Extension="rels"/>
  <Default ContentType="application/xml" Extension="xml"/>
  <Override ContentType="application/vnd.openxmlformats-officedocument.presentationml.notesMaster+xml" PartName="/ppt/notesMasters/notesMaster1.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Props+xml" PartName="/ppt/presProps.xml"/>
  <Override ContentType="application/vnd.openxmlformats-officedocument.presentationml.presentation.main+xml" PartName="/ppt/presentation.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viewProps+xml" PartName="/ppt/view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Raleway"/>
      <p:regular r:id="rId29"/>
      <p:bold r:id="rId30"/>
      <p:italic r:id="rId31"/>
      <p:boldItalic r:id="rId32"/>
    </p:embeddedFont>
    <p:embeddedFont>
      <p:font typeface="Lat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leway-italic.fntdata"/><Relationship Id="rId30" Type="http://schemas.openxmlformats.org/officeDocument/2006/relationships/font" Target="fonts/Raleway-bold.fntdata"/><Relationship Id="rId11" Type="http://schemas.openxmlformats.org/officeDocument/2006/relationships/slide" Target="slides/slide6.xml"/><Relationship Id="rId33" Type="http://schemas.openxmlformats.org/officeDocument/2006/relationships/font" Target="fonts/Lato-regular.fntdata"/><Relationship Id="rId10" Type="http://schemas.openxmlformats.org/officeDocument/2006/relationships/slide" Target="slides/slide5.xml"/><Relationship Id="rId32" Type="http://schemas.openxmlformats.org/officeDocument/2006/relationships/font" Target="fonts/Raleway-boldItalic.fntdata"/><Relationship Id="rId13" Type="http://schemas.openxmlformats.org/officeDocument/2006/relationships/slide" Target="slides/slide8.xml"/><Relationship Id="rId35" Type="http://schemas.openxmlformats.org/officeDocument/2006/relationships/font" Target="fonts/Lato-italic.fntdata"/><Relationship Id="rId12" Type="http://schemas.openxmlformats.org/officeDocument/2006/relationships/slide" Target="slides/slide7.xml"/><Relationship Id="rId34" Type="http://schemas.openxmlformats.org/officeDocument/2006/relationships/font" Target="fonts/Lato-bold.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Lat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8" name="Shape 88"/>
        <p:cNvGrpSpPr/>
        <p:nvPr/>
      </p:nvGrpSpPr>
      <p:grpSpPr>
        <a:xfrm>
          <a:off x="0" y="0"/>
          <a:ext cx="0" cy="0"/>
          <a:chOff x="0" y="0"/>
          <a:chExt cx="0" cy="0"/>
        </a:xfrm>
      </p:grpSpPr>
      <p:sp>
        <p:nvSpPr>
          <p:cNvPr id="89" name="Google Shape;89;g7eb9dd39a6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7eb9dd39a6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4" name="Shape 94"/>
        <p:cNvGrpSpPr/>
        <p:nvPr/>
      </p:nvGrpSpPr>
      <p:grpSpPr>
        <a:xfrm>
          <a:off x="0" y="0"/>
          <a:ext cx="0" cy="0"/>
          <a:chOff x="0" y="0"/>
          <a:chExt cx="0" cy="0"/>
        </a:xfrm>
      </p:grpSpPr>
      <p:sp>
        <p:nvSpPr>
          <p:cNvPr id="95" name="Google Shape;95;g7eb9dd39a6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eb9dd39a6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0" name="Shape 100"/>
        <p:cNvGrpSpPr/>
        <p:nvPr/>
      </p:nvGrpSpPr>
      <p:grpSpPr>
        <a:xfrm>
          <a:off x="0" y="0"/>
          <a:ext cx="0" cy="0"/>
          <a:chOff x="0" y="0"/>
          <a:chExt cx="0" cy="0"/>
        </a:xfrm>
      </p:grpSpPr>
      <p:sp>
        <p:nvSpPr>
          <p:cNvPr id="101" name="Google Shape;101;g7eb9dd39a6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7eb9dd39a6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6" name="Shape 106"/>
        <p:cNvGrpSpPr/>
        <p:nvPr/>
      </p:nvGrpSpPr>
      <p:grpSpPr>
        <a:xfrm>
          <a:off x="0" y="0"/>
          <a:ext cx="0" cy="0"/>
          <a:chOff x="0" y="0"/>
          <a:chExt cx="0" cy="0"/>
        </a:xfrm>
      </p:grpSpPr>
      <p:sp>
        <p:nvSpPr>
          <p:cNvPr id="107" name="Google Shape;107;g7eb9dd39a6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7eb9dd39a6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2" name="Shape 112"/>
        <p:cNvGrpSpPr/>
        <p:nvPr/>
      </p:nvGrpSpPr>
      <p:grpSpPr>
        <a:xfrm>
          <a:off x="0" y="0"/>
          <a:ext cx="0" cy="0"/>
          <a:chOff x="0" y="0"/>
          <a:chExt cx="0" cy="0"/>
        </a:xfrm>
      </p:grpSpPr>
      <p:sp>
        <p:nvSpPr>
          <p:cNvPr id="113" name="Google Shape;113;g7ebcfeff1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7ebcfeff1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8" name="Shape 118"/>
        <p:cNvGrpSpPr/>
        <p:nvPr/>
      </p:nvGrpSpPr>
      <p:grpSpPr>
        <a:xfrm>
          <a:off x="0" y="0"/>
          <a:ext cx="0" cy="0"/>
          <a:chOff x="0" y="0"/>
          <a:chExt cx="0" cy="0"/>
        </a:xfrm>
      </p:grpSpPr>
      <p:sp>
        <p:nvSpPr>
          <p:cNvPr id="119" name="Google Shape;119;g7eb9dd39a6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7eb9dd39a6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4" name="Shape 124"/>
        <p:cNvGrpSpPr/>
        <p:nvPr/>
      </p:nvGrpSpPr>
      <p:grpSpPr>
        <a:xfrm>
          <a:off x="0" y="0"/>
          <a:ext cx="0" cy="0"/>
          <a:chOff x="0" y="0"/>
          <a:chExt cx="0" cy="0"/>
        </a:xfrm>
      </p:grpSpPr>
      <p:sp>
        <p:nvSpPr>
          <p:cNvPr id="125" name="Google Shape;125;g7eb9dd39a6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7eb9dd39a6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1" name="Shape 131"/>
        <p:cNvGrpSpPr/>
        <p:nvPr/>
      </p:nvGrpSpPr>
      <p:grpSpPr>
        <a:xfrm>
          <a:off x="0" y="0"/>
          <a:ext cx="0" cy="0"/>
          <a:chOff x="0" y="0"/>
          <a:chExt cx="0" cy="0"/>
        </a:xfrm>
      </p:grpSpPr>
      <p:sp>
        <p:nvSpPr>
          <p:cNvPr id="132" name="Google Shape;132;g7ebcfeff1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7ebcfeff1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7" name="Shape 137"/>
        <p:cNvGrpSpPr/>
        <p:nvPr/>
      </p:nvGrpSpPr>
      <p:grpSpPr>
        <a:xfrm>
          <a:off x="0" y="0"/>
          <a:ext cx="0" cy="0"/>
          <a:chOff x="0" y="0"/>
          <a:chExt cx="0" cy="0"/>
        </a:xfrm>
      </p:grpSpPr>
      <p:sp>
        <p:nvSpPr>
          <p:cNvPr id="138" name="Google Shape;138;g7ebcfeff1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7ebcfeff1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2" name="Shape 142"/>
        <p:cNvGrpSpPr/>
        <p:nvPr/>
      </p:nvGrpSpPr>
      <p:grpSpPr>
        <a:xfrm>
          <a:off x="0" y="0"/>
          <a:ext cx="0" cy="0"/>
          <a:chOff x="0" y="0"/>
          <a:chExt cx="0" cy="0"/>
        </a:xfrm>
      </p:grpSpPr>
      <p:sp>
        <p:nvSpPr>
          <p:cNvPr id="143" name="Google Shape;143;g7ebcfeff1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7ebcfeff1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7" name="Shape 147"/>
        <p:cNvGrpSpPr/>
        <p:nvPr/>
      </p:nvGrpSpPr>
      <p:grpSpPr>
        <a:xfrm>
          <a:off x="0" y="0"/>
          <a:ext cx="0" cy="0"/>
          <a:chOff x="0" y="0"/>
          <a:chExt cx="0" cy="0"/>
        </a:xfrm>
      </p:grpSpPr>
      <p:sp>
        <p:nvSpPr>
          <p:cNvPr id="148" name="Google Shape;148;g7eb9dd39a6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7eb9dd39a6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3" name="Shape 153"/>
        <p:cNvGrpSpPr/>
        <p:nvPr/>
      </p:nvGrpSpPr>
      <p:grpSpPr>
        <a:xfrm>
          <a:off x="0" y="0"/>
          <a:ext cx="0" cy="0"/>
          <a:chOff x="0" y="0"/>
          <a:chExt cx="0" cy="0"/>
        </a:xfrm>
      </p:grpSpPr>
      <p:sp>
        <p:nvSpPr>
          <p:cNvPr id="154" name="Google Shape;154;g7eb9dd39a6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7eb9dd39a6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9" name="Shape 159"/>
        <p:cNvGrpSpPr/>
        <p:nvPr/>
      </p:nvGrpSpPr>
      <p:grpSpPr>
        <a:xfrm>
          <a:off x="0" y="0"/>
          <a:ext cx="0" cy="0"/>
          <a:chOff x="0" y="0"/>
          <a:chExt cx="0" cy="0"/>
        </a:xfrm>
      </p:grpSpPr>
      <p:sp>
        <p:nvSpPr>
          <p:cNvPr id="160" name="Google Shape;160;g7eb9dd39a6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7eb9dd39a6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5" name="Shape 165"/>
        <p:cNvGrpSpPr/>
        <p:nvPr/>
      </p:nvGrpSpPr>
      <p:grpSpPr>
        <a:xfrm>
          <a:off x="0" y="0"/>
          <a:ext cx="0" cy="0"/>
          <a:chOff x="0" y="0"/>
          <a:chExt cx="0" cy="0"/>
        </a:xfrm>
      </p:grpSpPr>
      <p:sp>
        <p:nvSpPr>
          <p:cNvPr id="166" name="Google Shape;166;g7ebcfeff1a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7ebcfeff1a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1" name="Shape 171"/>
        <p:cNvGrpSpPr/>
        <p:nvPr/>
      </p:nvGrpSpPr>
      <p:grpSpPr>
        <a:xfrm>
          <a:off x="0" y="0"/>
          <a:ext cx="0" cy="0"/>
          <a:chOff x="0" y="0"/>
          <a:chExt cx="0" cy="0"/>
        </a:xfrm>
      </p:grpSpPr>
      <p:sp>
        <p:nvSpPr>
          <p:cNvPr id="172" name="Google Shape;172;g7ebcfeff1a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7ebcfeff1a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7" name="Shape 177"/>
        <p:cNvGrpSpPr/>
        <p:nvPr/>
      </p:nvGrpSpPr>
      <p:grpSpPr>
        <a:xfrm>
          <a:off x="0" y="0"/>
          <a:ext cx="0" cy="0"/>
          <a:chOff x="0" y="0"/>
          <a:chExt cx="0" cy="0"/>
        </a:xfrm>
      </p:grpSpPr>
      <p:sp>
        <p:nvSpPr>
          <p:cNvPr id="178" name="Google Shape;178;g7ebcfeff1a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7ebcfeff1a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3" name="Shape 183"/>
        <p:cNvGrpSpPr/>
        <p:nvPr/>
      </p:nvGrpSpPr>
      <p:grpSpPr>
        <a:xfrm>
          <a:off x="0" y="0"/>
          <a:ext cx="0" cy="0"/>
          <a:chOff x="0" y="0"/>
          <a:chExt cx="0" cy="0"/>
        </a:xfrm>
      </p:grpSpPr>
      <p:sp>
        <p:nvSpPr>
          <p:cNvPr id="184" name="Google Shape;184;g7ebcfeff1a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7ebcfeff1a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9" name="Shape 189"/>
        <p:cNvGrpSpPr/>
        <p:nvPr/>
      </p:nvGrpSpPr>
      <p:grpSpPr>
        <a:xfrm>
          <a:off x="0" y="0"/>
          <a:ext cx="0" cy="0"/>
          <a:chOff x="0" y="0"/>
          <a:chExt cx="0" cy="0"/>
        </a:xfrm>
      </p:grpSpPr>
      <p:sp>
        <p:nvSpPr>
          <p:cNvPr id="190" name="Google Shape;190;g7ebcfeff1a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7ebcfeff1a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7" name="Shape 197"/>
        <p:cNvGrpSpPr/>
        <p:nvPr/>
      </p:nvGrpSpPr>
      <p:grpSpPr>
        <a:xfrm>
          <a:off x="0" y="0"/>
          <a:ext cx="0" cy="0"/>
          <a:chOff x="0" y="0"/>
          <a:chExt cx="0" cy="0"/>
        </a:xfrm>
      </p:grpSpPr>
      <p:sp>
        <p:nvSpPr>
          <p:cNvPr id="198" name="Google Shape;198;g7ebcfeff1a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7ebcfeff1a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4" name="Shape 204"/>
        <p:cNvGrpSpPr/>
        <p:nvPr/>
      </p:nvGrpSpPr>
      <p:grpSpPr>
        <a:xfrm>
          <a:off x="0" y="0"/>
          <a:ext cx="0" cy="0"/>
          <a:chOff x="0" y="0"/>
          <a:chExt cx="0" cy="0"/>
        </a:xfrm>
      </p:grpSpPr>
      <p:sp>
        <p:nvSpPr>
          <p:cNvPr id="205" name="Google Shape;205;g7eb9dd39a6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7eb9dd39a6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0" name="Shape 210"/>
        <p:cNvGrpSpPr/>
        <p:nvPr/>
      </p:nvGrpSpPr>
      <p:grpSpPr>
        <a:xfrm>
          <a:off x="0" y="0"/>
          <a:ext cx="0" cy="0"/>
          <a:chOff x="0" y="0"/>
          <a:chExt cx="0" cy="0"/>
        </a:xfrm>
      </p:grpSpPr>
      <p:sp>
        <p:nvSpPr>
          <p:cNvPr id="211" name="Google Shape;211;g7ebcfeff1a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7ebcfeff1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5" name="Shape 215"/>
        <p:cNvGrpSpPr/>
        <p:nvPr/>
      </p:nvGrpSpPr>
      <p:grpSpPr>
        <a:xfrm>
          <a:off x="0" y="0"/>
          <a:ext cx="0" cy="0"/>
          <a:chOff x="0" y="0"/>
          <a:chExt cx="0" cy="0"/>
        </a:xfrm>
      </p:grpSpPr>
      <p:sp>
        <p:nvSpPr>
          <p:cNvPr id="216" name="Google Shape;216;g7ebcfeff1a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7ebcfeff1a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Investigación de Operaciones II</a:t>
            </a:r>
            <a:endParaRPr/>
          </a:p>
        </p:txBody>
      </p:sp>
      <p:sp>
        <p:nvSpPr>
          <p:cNvPr id="87" name="Google Shape;87;p13"/>
          <p:cNvSpPr txBox="1"/>
          <p:nvPr>
            <p:ph idx="1" type="subTitle"/>
          </p:nvPr>
        </p:nvSpPr>
        <p:spPr>
          <a:xfrm>
            <a:off x="729625" y="3172900"/>
            <a:ext cx="7688100" cy="69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Herman Alejandro Luna Acosta </a:t>
            </a:r>
            <a:endParaRPr/>
          </a:p>
          <a:p>
            <a:pPr indent="0" lvl="0" marL="0" rtl="0" algn="l">
              <a:spcBef>
                <a:spcPts val="0"/>
              </a:spcBef>
              <a:spcAft>
                <a:spcPts val="0"/>
              </a:spcAft>
              <a:buNone/>
            </a:pPr>
            <a:r>
              <a:rPr lang="es"/>
              <a:t>Juan Francisco González Garrido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Elementos de </a:t>
            </a:r>
            <a:r>
              <a:rPr lang="es"/>
              <a:t>Decisión</a:t>
            </a:r>
            <a:endParaRPr/>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800"/>
              <a:t>1.- Identificar y analizar el problema</a:t>
            </a:r>
            <a:endParaRPr sz="1800"/>
          </a:p>
          <a:p>
            <a:pPr indent="0" lvl="0" marL="0" rtl="0" algn="l">
              <a:spcBef>
                <a:spcPts val="1600"/>
              </a:spcBef>
              <a:spcAft>
                <a:spcPts val="0"/>
              </a:spcAft>
              <a:buNone/>
            </a:pPr>
            <a:r>
              <a:rPr lang="es" sz="1800"/>
              <a:t>2.- Identificación de los criterios para la toma de decisiones</a:t>
            </a:r>
            <a:endParaRPr sz="1800"/>
          </a:p>
          <a:p>
            <a:pPr indent="0" lvl="0" marL="0" rtl="0" algn="l">
              <a:spcBef>
                <a:spcPts val="1600"/>
              </a:spcBef>
              <a:spcAft>
                <a:spcPts val="0"/>
              </a:spcAft>
              <a:buNone/>
            </a:pPr>
            <a:r>
              <a:rPr lang="es" sz="1800"/>
              <a:t>3.- Asignación de ponderaciones a los criterios</a:t>
            </a:r>
            <a:endParaRPr sz="1800"/>
          </a:p>
          <a:p>
            <a:pPr indent="0" lvl="0" marL="0" rtl="0" algn="l">
              <a:spcBef>
                <a:spcPts val="1600"/>
              </a:spcBef>
              <a:spcAft>
                <a:spcPts val="0"/>
              </a:spcAft>
              <a:buNone/>
            </a:pPr>
            <a:r>
              <a:rPr lang="es" sz="1800"/>
              <a:t>4.- </a:t>
            </a:r>
            <a:r>
              <a:rPr lang="es" sz="1800"/>
              <a:t>Desarrollo</a:t>
            </a:r>
            <a:r>
              <a:rPr lang="es" sz="1800"/>
              <a:t> de alternativas</a:t>
            </a:r>
            <a:endParaRPr sz="1800"/>
          </a:p>
          <a:p>
            <a:pPr indent="0" lvl="0" marL="0" rtl="0" algn="l">
              <a:spcBef>
                <a:spcPts val="1600"/>
              </a:spcBef>
              <a:spcAft>
                <a:spcPts val="0"/>
              </a:spcAft>
              <a:buNone/>
            </a:pPr>
            <a:r>
              <a:rPr lang="es" sz="1800"/>
              <a:t>5.- Análisis de las alternativas</a:t>
            </a:r>
            <a:endParaRPr sz="1800"/>
          </a:p>
          <a:p>
            <a:pPr indent="0" lvl="0" marL="0" rtl="0" algn="l">
              <a:spcBef>
                <a:spcPts val="1600"/>
              </a:spcBef>
              <a:spcAft>
                <a:spcPts val="1600"/>
              </a:spcAft>
              <a:buNone/>
            </a:pPr>
            <a:r>
              <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800"/>
              <a:t>6.- Selección de una alternativa </a:t>
            </a:r>
            <a:endParaRPr sz="1800"/>
          </a:p>
          <a:p>
            <a:pPr indent="0" lvl="0" marL="0" rtl="0" algn="l">
              <a:spcBef>
                <a:spcPts val="1600"/>
              </a:spcBef>
              <a:spcAft>
                <a:spcPts val="0"/>
              </a:spcAft>
              <a:buNone/>
            </a:pPr>
            <a:r>
              <a:rPr lang="es" sz="1800"/>
              <a:t>7.- Implementación de la alternativa</a:t>
            </a:r>
            <a:endParaRPr sz="1800"/>
          </a:p>
          <a:p>
            <a:pPr indent="0" lvl="0" marL="0" rtl="0" algn="l">
              <a:spcBef>
                <a:spcPts val="1600"/>
              </a:spcBef>
              <a:spcAft>
                <a:spcPts val="1600"/>
              </a:spcAft>
              <a:buNone/>
            </a:pPr>
            <a:r>
              <a:rPr lang="es" sz="1800"/>
              <a:t>8.- Evaluación de la efectividad de la alternativa</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¿Qué es la incertidumbre?</a:t>
            </a:r>
            <a:endParaRPr/>
          </a:p>
        </p:txBody>
      </p:sp>
      <p:sp>
        <p:nvSpPr>
          <p:cNvPr id="105" name="Google Shape;105;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 sz="1800"/>
              <a:t>Certeza</a:t>
            </a:r>
            <a:r>
              <a:rPr lang="es" sz="1800"/>
              <a:t>: Una situación de certeza es aquella en la que un sujeto tiene información completa sobre una situación determinada, sobre cómo evolucionará y conoce el resultado de su decisión.</a:t>
            </a:r>
            <a:endParaRPr sz="1800"/>
          </a:p>
          <a:p>
            <a:pPr indent="0" lvl="0" marL="0" rtl="0" algn="just">
              <a:spcBef>
                <a:spcPts val="1600"/>
              </a:spcBef>
              <a:spcAft>
                <a:spcPts val="1600"/>
              </a:spcAft>
              <a:buNone/>
            </a:pPr>
            <a:r>
              <a:rPr lang="es" sz="1800"/>
              <a:t>Incertidumbre: Una situación de incertidumbre es aquella en la que un sujeto toma la decisión sin conocer del todo la situación y existen varios resultados para cada estrategia.</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Tabla de </a:t>
            </a:r>
            <a:r>
              <a:rPr lang="es"/>
              <a:t>beneficios / Tabla de decisión</a:t>
            </a:r>
            <a:endParaRPr/>
          </a:p>
        </p:txBody>
      </p:sp>
      <p:sp>
        <p:nvSpPr>
          <p:cNvPr id="111" name="Google Shape;111;p1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 sz="1800"/>
              <a:t>Muchos procesos de toma de decisiones pueden ser tratados por medio de tablas de decisión.</a:t>
            </a:r>
            <a:endParaRPr sz="1800"/>
          </a:p>
          <a:p>
            <a:pPr indent="-342900" lvl="0" marL="457200" rtl="0" algn="just">
              <a:spcBef>
                <a:spcPts val="1600"/>
              </a:spcBef>
              <a:spcAft>
                <a:spcPts val="0"/>
              </a:spcAft>
              <a:buSzPts val="1800"/>
              <a:buChar char="●"/>
            </a:pPr>
            <a:r>
              <a:rPr lang="es" sz="1800"/>
              <a:t>Los diferentes estados que puede presentar la naturaleza: e1, e2, ..., en.</a:t>
            </a:r>
            <a:endParaRPr sz="1800"/>
          </a:p>
          <a:p>
            <a:pPr indent="-342900" lvl="0" marL="457200" rtl="0" algn="just">
              <a:spcBef>
                <a:spcPts val="0"/>
              </a:spcBef>
              <a:spcAft>
                <a:spcPts val="0"/>
              </a:spcAft>
              <a:buSzPts val="1800"/>
              <a:buChar char="●"/>
            </a:pPr>
            <a:r>
              <a:rPr lang="es" sz="1800"/>
              <a:t>Las acciones o alternativas entre las que seleccionará el decisor: a1, a2,...,am.</a:t>
            </a:r>
            <a:endParaRPr sz="1800"/>
          </a:p>
          <a:p>
            <a:pPr indent="-342900" lvl="0" marL="457200" rtl="0" algn="just">
              <a:spcBef>
                <a:spcPts val="0"/>
              </a:spcBef>
              <a:spcAft>
                <a:spcPts val="0"/>
              </a:spcAft>
              <a:buSzPts val="1800"/>
              <a:buChar char="●"/>
            </a:pPr>
            <a:r>
              <a:rPr lang="es" sz="1800"/>
              <a:t>Las consecuencias o resultados xij de la elección de la alternativa ai.</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5" name="Shape 115"/>
        <p:cNvGrpSpPr/>
        <p:nvPr/>
      </p:nvGrpSpPr>
      <p:grpSpPr>
        <a:xfrm>
          <a:off x="0" y="0"/>
          <a:ext cx="0" cy="0"/>
          <a:chOff x="0" y="0"/>
          <a:chExt cx="0" cy="0"/>
        </a:xfrm>
      </p:grpSpPr>
      <p:sp>
        <p:nvSpPr>
          <p:cNvPr id="116" name="Google Shape;116;p18"/>
          <p:cNvSpPr txBox="1"/>
          <p:nvPr>
            <p:ph idx="1" type="body"/>
          </p:nvPr>
        </p:nvSpPr>
        <p:spPr>
          <a:xfrm>
            <a:off x="727650" y="1441200"/>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800"/>
              <a:t>El formato general de una tabla de decisión es el siguiente:</a:t>
            </a:r>
            <a:endParaRPr sz="1800"/>
          </a:p>
        </p:txBody>
      </p:sp>
      <p:pic>
        <p:nvPicPr>
          <p:cNvPr id="117" name="Google Shape;117;p18"/>
          <p:cNvPicPr preferRelativeResize="0"/>
          <p:nvPr/>
        </p:nvPicPr>
        <p:blipFill rotWithShape="1">
          <a:blip r:embed="rId3">
            <a:alphaModFix/>
          </a:blip>
          <a:srcRect b="8154" l="30087" r="13780" t="8810"/>
          <a:stretch/>
        </p:blipFill>
        <p:spPr>
          <a:xfrm>
            <a:off x="2885600" y="1927550"/>
            <a:ext cx="3372801" cy="28048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Pérdida de Oportunidad</a:t>
            </a:r>
            <a:endParaRPr/>
          </a:p>
        </p:txBody>
      </p:sp>
      <p:sp>
        <p:nvSpPr>
          <p:cNvPr id="123" name="Google Shape;123;p1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 sz="1800"/>
              <a:t>Es un método para analizar una decisión. Es la pérdida de ganancia que se pierde cuando tomamos una decisión, debido a que desconocemos la naturaleza del problema.</a:t>
            </a:r>
            <a:endParaRPr sz="1800"/>
          </a:p>
          <a:p>
            <a:pPr indent="0" lvl="0" marL="0" rtl="0" algn="just">
              <a:spcBef>
                <a:spcPts val="1600"/>
              </a:spcBef>
              <a:spcAft>
                <a:spcPts val="0"/>
              </a:spcAft>
              <a:buNone/>
            </a:pPr>
            <a:r>
              <a:t/>
            </a:r>
            <a:endParaRPr sz="1800"/>
          </a:p>
          <a:p>
            <a:pPr indent="0" lvl="0" marL="0" rtl="0" algn="just">
              <a:spcBef>
                <a:spcPts val="1600"/>
              </a:spcBef>
              <a:spcAft>
                <a:spcPts val="1600"/>
              </a:spcAft>
              <a:buNone/>
            </a:pPr>
            <a:r>
              <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Pérdida de Oportunidad Esperada</a:t>
            </a:r>
            <a:endParaRPr/>
          </a:p>
        </p:txBody>
      </p:sp>
      <p:sp>
        <p:nvSpPr>
          <p:cNvPr id="129" name="Google Shape;129;p2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 sz="1800"/>
              <a:t>Es el costo de no elegir la mejor solución.</a:t>
            </a:r>
            <a:endParaRPr sz="1800"/>
          </a:p>
          <a:p>
            <a:pPr indent="0" lvl="0" marL="0" rtl="0" algn="just">
              <a:spcBef>
                <a:spcPts val="1600"/>
              </a:spcBef>
              <a:spcAft>
                <a:spcPts val="1600"/>
              </a:spcAft>
              <a:buNone/>
            </a:pPr>
            <a:r>
              <a:rPr lang="es" sz="1800"/>
              <a:t>Mejor </a:t>
            </a:r>
            <a:r>
              <a:rPr lang="es" sz="1800"/>
              <a:t>opción </a:t>
            </a:r>
            <a:r>
              <a:rPr lang="es" sz="1800"/>
              <a:t>               Otra </a:t>
            </a:r>
            <a:r>
              <a:rPr lang="es" sz="1800"/>
              <a:t>opción</a:t>
            </a:r>
            <a:r>
              <a:rPr lang="es" sz="1800"/>
              <a:t> </a:t>
            </a:r>
            <a:endParaRPr sz="1800"/>
          </a:p>
        </p:txBody>
      </p:sp>
      <p:sp>
        <p:nvSpPr>
          <p:cNvPr id="130" name="Google Shape;130;p20"/>
          <p:cNvSpPr/>
          <p:nvPr/>
        </p:nvSpPr>
        <p:spPr>
          <a:xfrm>
            <a:off x="2300950" y="2821475"/>
            <a:ext cx="408600" cy="150900"/>
          </a:xfrm>
          <a:prstGeom prst="mathMin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4" name="Shape 134"/>
        <p:cNvGrpSpPr/>
        <p:nvPr/>
      </p:nvGrpSpPr>
      <p:grpSpPr>
        <a:xfrm>
          <a:off x="0" y="0"/>
          <a:ext cx="0" cy="0"/>
          <a:chOff x="0" y="0"/>
          <a:chExt cx="0" cy="0"/>
        </a:xfrm>
      </p:grpSpPr>
      <p:sp>
        <p:nvSpPr>
          <p:cNvPr id="135" name="Google Shape;135;p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a:t>
            </a:r>
            <a:endParaRPr/>
          </a:p>
          <a:p>
            <a:pPr indent="0" lvl="0" marL="0" rtl="0" algn="l">
              <a:spcBef>
                <a:spcPts val="0"/>
              </a:spcBef>
              <a:spcAft>
                <a:spcPts val="0"/>
              </a:spcAft>
              <a:buNone/>
            </a:pPr>
            <a:r>
              <a:t/>
            </a:r>
            <a:endParaRPr/>
          </a:p>
        </p:txBody>
      </p:sp>
      <p:sp>
        <p:nvSpPr>
          <p:cNvPr id="136" name="Google Shape;136;p21"/>
          <p:cNvSpPr txBox="1"/>
          <p:nvPr/>
        </p:nvSpPr>
        <p:spPr>
          <a:xfrm>
            <a:off x="729450" y="2296525"/>
            <a:ext cx="7688700" cy="20658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lang="es" sz="1800"/>
              <a:t>Una empresa Nacional de televisión está valorando la posibilidad de fabricar un episodio piloto destinado a una serie de programas para una importante red de televisión. La red podría rechazar el programa piloto y la serie, pero también es posible que adquiera el programa para uno o dos años. La empresa Nacional de televisión puede decidir fabricar el programa o transmitir los derechos de la serie a un competidor por $100.000. En el siguiente cuadro de resultados se resumen las utilidades:</a:t>
            </a:r>
            <a:endParaRPr sz="1800"/>
          </a:p>
          <a:p>
            <a:pPr indent="0" lvl="0" marL="0" rtl="0" algn="just">
              <a:lnSpc>
                <a:spcPct val="115000"/>
              </a:lnSpc>
              <a:spcBef>
                <a:spcPts val="0"/>
              </a:spcBef>
              <a:spcAft>
                <a:spcPts val="0"/>
              </a:spcAft>
              <a:buNone/>
            </a:pPr>
            <a:r>
              <a:rPr lang="es" sz="1800"/>
              <a:t> </a:t>
            </a:r>
            <a:endParaRPr sz="1800"/>
          </a:p>
          <a:p>
            <a:pPr indent="0" lvl="0" marL="0" rtl="0" algn="just">
              <a:lnSpc>
                <a:spcPct val="115000"/>
              </a:lnSpc>
              <a:spcBef>
                <a:spcPts val="0"/>
              </a:spcBef>
              <a:spcAft>
                <a:spcPts val="0"/>
              </a:spcAft>
              <a:buNone/>
            </a:pPr>
            <a:r>
              <a:rPr lang="es" sz="1800"/>
              <a:t> </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0" name="Shape 140"/>
        <p:cNvGrpSpPr/>
        <p:nvPr/>
      </p:nvGrpSpPr>
      <p:grpSpPr>
        <a:xfrm>
          <a:off x="0" y="0"/>
          <a:ext cx="0" cy="0"/>
          <a:chOff x="0" y="0"/>
          <a:chExt cx="0" cy="0"/>
        </a:xfrm>
      </p:grpSpPr>
      <p:pic>
        <p:nvPicPr>
          <p:cNvPr id="141" name="Google Shape;141;p22"/>
          <p:cNvPicPr preferRelativeResize="0"/>
          <p:nvPr/>
        </p:nvPicPr>
        <p:blipFill>
          <a:blip r:embed="rId3">
            <a:alphaModFix/>
          </a:blip>
          <a:stretch>
            <a:fillRect/>
          </a:stretch>
        </p:blipFill>
        <p:spPr>
          <a:xfrm>
            <a:off x="1263075" y="1473400"/>
            <a:ext cx="6457950" cy="3333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5" name="Shape 145"/>
        <p:cNvGrpSpPr/>
        <p:nvPr/>
      </p:nvGrpSpPr>
      <p:grpSpPr>
        <a:xfrm>
          <a:off x="0" y="0"/>
          <a:ext cx="0" cy="0"/>
          <a:chOff x="0" y="0"/>
          <a:chExt cx="0" cy="0"/>
        </a:xfrm>
      </p:grpSpPr>
      <p:pic>
        <p:nvPicPr>
          <p:cNvPr id="146" name="Google Shape;146;p23"/>
          <p:cNvPicPr preferRelativeResize="0"/>
          <p:nvPr/>
        </p:nvPicPr>
        <p:blipFill>
          <a:blip r:embed="rId3">
            <a:alphaModFix/>
          </a:blip>
          <a:stretch>
            <a:fillRect/>
          </a:stretch>
        </p:blipFill>
        <p:spPr>
          <a:xfrm>
            <a:off x="932751" y="1318650"/>
            <a:ext cx="6987925" cy="3609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0" name="Shape 150"/>
        <p:cNvGrpSpPr/>
        <p:nvPr/>
      </p:nvGrpSpPr>
      <p:grpSpPr>
        <a:xfrm>
          <a:off x="0" y="0"/>
          <a:ext cx="0" cy="0"/>
          <a:chOff x="0" y="0"/>
          <a:chExt cx="0" cy="0"/>
        </a:xfrm>
      </p:grpSpPr>
      <p:sp>
        <p:nvSpPr>
          <p:cNvPr id="151" name="Google Shape;151;p2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Maximin</a:t>
            </a:r>
            <a:endParaRPr/>
          </a:p>
        </p:txBody>
      </p:sp>
      <p:sp>
        <p:nvSpPr>
          <p:cNvPr id="152" name="Google Shape;152;p2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lang="es" sz="1800"/>
              <a:t>El criterio maximin supone maximizar el resultado mínimo, es decir el decisor quiere asegurarse la elección mejor en caso que se de la situación más desfavorable. Es pesimista. Es útil en situaciones muy inciertas, si quieren evitarse riesgos o si existe conflicto.</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6" name="Shape 156"/>
        <p:cNvGrpSpPr/>
        <p:nvPr/>
      </p:nvGrpSpPr>
      <p:grpSpPr>
        <a:xfrm>
          <a:off x="0" y="0"/>
          <a:ext cx="0" cy="0"/>
          <a:chOff x="0" y="0"/>
          <a:chExt cx="0" cy="0"/>
        </a:xfrm>
      </p:grpSpPr>
      <p:sp>
        <p:nvSpPr>
          <p:cNvPr id="157" name="Google Shape;157;p2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Maximax</a:t>
            </a:r>
            <a:endParaRPr/>
          </a:p>
        </p:txBody>
      </p:sp>
      <p:sp>
        <p:nvSpPr>
          <p:cNvPr id="158" name="Google Shape;158;p2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lang="es" sz="1800"/>
              <a:t>El criterio maximax consiste en maximizar el máximo; escoger el resultado máximo entre los mejores de cada alternativa. El decisor es optimista.</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2" name="Shape 162"/>
        <p:cNvGrpSpPr/>
        <p:nvPr/>
      </p:nvGrpSpPr>
      <p:grpSpPr>
        <a:xfrm>
          <a:off x="0" y="0"/>
          <a:ext cx="0" cy="0"/>
          <a:chOff x="0" y="0"/>
          <a:chExt cx="0" cy="0"/>
        </a:xfrm>
      </p:grpSpPr>
      <p:sp>
        <p:nvSpPr>
          <p:cNvPr id="163" name="Google Shape;163;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Minimax</a:t>
            </a:r>
            <a:endParaRPr/>
          </a:p>
        </p:txBody>
      </p:sp>
      <p:sp>
        <p:nvSpPr>
          <p:cNvPr id="164" name="Google Shape;164;p2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lang="es" sz="1800"/>
              <a:t>El criterio minimax plantea elegir en función de lo que se dejará de ganar. Por tanto, en primer lugar debe calcularse el máximo coste de oportunidad de cualquier opción y, en segundo lugar, elegir el menor de ellos.</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8" name="Shape 168"/>
        <p:cNvGrpSpPr/>
        <p:nvPr/>
      </p:nvGrpSpPr>
      <p:grpSpPr>
        <a:xfrm>
          <a:off x="0" y="0"/>
          <a:ext cx="0" cy="0"/>
          <a:chOff x="0" y="0"/>
          <a:chExt cx="0" cy="0"/>
        </a:xfrm>
      </p:grpSpPr>
      <p:sp>
        <p:nvSpPr>
          <p:cNvPr id="169" name="Google Shape;169;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a:t>
            </a:r>
            <a:endParaRPr/>
          </a:p>
        </p:txBody>
      </p:sp>
      <p:sp>
        <p:nvSpPr>
          <p:cNvPr id="170" name="Google Shape;170;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lang="es" sz="1800"/>
              <a:t>Supongamos que una empresa quiere realizar una campaña publicitaria. Se le presentan 3 posibilidades: radio (15 minutos de lunes a jueves en un espacio), TV (1 spot cada semana sobre las 12h) y prensa (1 anuncio 2 días a la semana los lunes y los jueves). Como han hecho campañas anteriormente se han podido valorar los resultados de las diferentes posibilidades del siguiente modo:</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4" name="Shape 174"/>
        <p:cNvGrpSpPr/>
        <p:nvPr/>
      </p:nvGrpSpPr>
      <p:grpSpPr>
        <a:xfrm>
          <a:off x="0" y="0"/>
          <a:ext cx="0" cy="0"/>
          <a:chOff x="0" y="0"/>
          <a:chExt cx="0" cy="0"/>
        </a:xfrm>
      </p:grpSpPr>
      <p:sp>
        <p:nvSpPr>
          <p:cNvPr id="175" name="Google Shape;175;p28"/>
          <p:cNvSpPr txBox="1"/>
          <p:nvPr>
            <p:ph idx="1" type="body"/>
          </p:nvPr>
        </p:nvSpPr>
        <p:spPr>
          <a:xfrm>
            <a:off x="729450" y="2571750"/>
            <a:ext cx="7688700" cy="17682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lang="es" sz="1800"/>
              <a:t>Si la demanda de mercado se mantiene alta, la campaña publicitaria en la radio garantiza los mejores resultados. Si la demanda de mercado se mantiene baja, la campaña publicitaria que garantiza los mejores resultados es la prensa. ¿Qué medio de comunicación </a:t>
            </a:r>
            <a:r>
              <a:rPr lang="es" sz="1800"/>
              <a:t>elegirías</a:t>
            </a:r>
            <a:r>
              <a:rPr lang="es" sz="1800"/>
              <a:t>?</a:t>
            </a:r>
            <a:endParaRPr sz="1800"/>
          </a:p>
        </p:txBody>
      </p:sp>
      <p:pic>
        <p:nvPicPr>
          <p:cNvPr id="176" name="Google Shape;176;p28"/>
          <p:cNvPicPr preferRelativeResize="0"/>
          <p:nvPr/>
        </p:nvPicPr>
        <p:blipFill rotWithShape="1">
          <a:blip r:embed="rId3">
            <a:alphaModFix/>
          </a:blip>
          <a:srcRect b="38499" l="4270" r="10317" t="40998"/>
          <a:stretch/>
        </p:blipFill>
        <p:spPr>
          <a:xfrm>
            <a:off x="668738" y="1339477"/>
            <a:ext cx="7810125" cy="10539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0" name="Shape 180"/>
        <p:cNvGrpSpPr/>
        <p:nvPr/>
      </p:nvGrpSpPr>
      <p:grpSpPr>
        <a:xfrm>
          <a:off x="0" y="0"/>
          <a:ext cx="0" cy="0"/>
          <a:chOff x="0" y="0"/>
          <a:chExt cx="0" cy="0"/>
        </a:xfrm>
      </p:grpSpPr>
      <p:sp>
        <p:nvSpPr>
          <p:cNvPr id="181" name="Google Shape;181;p29"/>
          <p:cNvSpPr txBox="1"/>
          <p:nvPr>
            <p:ph idx="1" type="body"/>
          </p:nvPr>
        </p:nvSpPr>
        <p:spPr>
          <a:xfrm>
            <a:off x="727650" y="1328025"/>
            <a:ext cx="7688700" cy="17682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lang="es" sz="1800"/>
              <a:t>El pesimista adoptará el MAXIMIN, es decir, escoger el mejor resultado de entre la peor situación. El peor escenario (o peor situación) es que la demanda sea baja. El mejor resultado en el peor escenario es: PRENSA.</a:t>
            </a:r>
            <a:endParaRPr sz="1800"/>
          </a:p>
        </p:txBody>
      </p:sp>
      <p:pic>
        <p:nvPicPr>
          <p:cNvPr id="182" name="Google Shape;182;p29"/>
          <p:cNvPicPr preferRelativeResize="0"/>
          <p:nvPr/>
        </p:nvPicPr>
        <p:blipFill rotWithShape="1">
          <a:blip r:embed="rId3">
            <a:alphaModFix/>
          </a:blip>
          <a:srcRect b="38499" l="4270" r="10317" t="40998"/>
          <a:stretch/>
        </p:blipFill>
        <p:spPr>
          <a:xfrm>
            <a:off x="666938" y="2571752"/>
            <a:ext cx="7810125" cy="10539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6" name="Shape 186"/>
        <p:cNvGrpSpPr/>
        <p:nvPr/>
      </p:nvGrpSpPr>
      <p:grpSpPr>
        <a:xfrm>
          <a:off x="0" y="0"/>
          <a:ext cx="0" cy="0"/>
          <a:chOff x="0" y="0"/>
          <a:chExt cx="0" cy="0"/>
        </a:xfrm>
      </p:grpSpPr>
      <p:sp>
        <p:nvSpPr>
          <p:cNvPr id="187" name="Google Shape;187;p30"/>
          <p:cNvSpPr txBox="1"/>
          <p:nvPr>
            <p:ph idx="1" type="body"/>
          </p:nvPr>
        </p:nvSpPr>
        <p:spPr>
          <a:xfrm>
            <a:off x="727650" y="1328025"/>
            <a:ext cx="7688700" cy="17682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lang="es" sz="1800"/>
              <a:t>El optimista adoptará el criterio MAXIMAX, el mejor de los mejores. El mejor escenario es la demanda alta. El mejor de los mejores es: RADIO.</a:t>
            </a:r>
            <a:endParaRPr sz="1800"/>
          </a:p>
        </p:txBody>
      </p:sp>
      <p:pic>
        <p:nvPicPr>
          <p:cNvPr id="188" name="Google Shape;188;p30"/>
          <p:cNvPicPr preferRelativeResize="0"/>
          <p:nvPr/>
        </p:nvPicPr>
        <p:blipFill rotWithShape="1">
          <a:blip r:embed="rId3">
            <a:alphaModFix/>
          </a:blip>
          <a:srcRect b="38499" l="4270" r="10317" t="40998"/>
          <a:stretch/>
        </p:blipFill>
        <p:spPr>
          <a:xfrm>
            <a:off x="666938" y="2571752"/>
            <a:ext cx="7810125" cy="10539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2" name="Shape 192"/>
        <p:cNvGrpSpPr/>
        <p:nvPr/>
      </p:nvGrpSpPr>
      <p:grpSpPr>
        <a:xfrm>
          <a:off x="0" y="0"/>
          <a:ext cx="0" cy="0"/>
          <a:chOff x="0" y="0"/>
          <a:chExt cx="0" cy="0"/>
        </a:xfrm>
      </p:grpSpPr>
      <p:sp>
        <p:nvSpPr>
          <p:cNvPr id="193" name="Google Shape;193;p31"/>
          <p:cNvSpPr txBox="1"/>
          <p:nvPr>
            <p:ph idx="1" type="body"/>
          </p:nvPr>
        </p:nvSpPr>
        <p:spPr>
          <a:xfrm>
            <a:off x="727650" y="1174800"/>
            <a:ext cx="7688700" cy="7281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lang="es" sz="1800"/>
              <a:t>Con el MINIMAX se escoge el mínimo de los máximos costes de oportunidad posibles. Calculamos la matriz de costes de oportunidad:</a:t>
            </a:r>
            <a:endParaRPr sz="1800"/>
          </a:p>
        </p:txBody>
      </p:sp>
      <p:pic>
        <p:nvPicPr>
          <p:cNvPr id="194" name="Google Shape;194;p31"/>
          <p:cNvPicPr preferRelativeResize="0"/>
          <p:nvPr/>
        </p:nvPicPr>
        <p:blipFill rotWithShape="1">
          <a:blip r:embed="rId3">
            <a:alphaModFix/>
          </a:blip>
          <a:srcRect b="38499" l="4270" r="10317" t="40998"/>
          <a:stretch/>
        </p:blipFill>
        <p:spPr>
          <a:xfrm>
            <a:off x="976350" y="1902912"/>
            <a:ext cx="7191324" cy="970495"/>
          </a:xfrm>
          <a:prstGeom prst="rect">
            <a:avLst/>
          </a:prstGeom>
          <a:noFill/>
          <a:ln>
            <a:noFill/>
          </a:ln>
        </p:spPr>
      </p:pic>
      <p:pic>
        <p:nvPicPr>
          <p:cNvPr id="195" name="Google Shape;195;p31"/>
          <p:cNvPicPr preferRelativeResize="0"/>
          <p:nvPr/>
        </p:nvPicPr>
        <p:blipFill rotWithShape="1">
          <a:blip r:embed="rId4">
            <a:alphaModFix/>
          </a:blip>
          <a:srcRect b="33768" l="4510" r="13185" t="41834"/>
          <a:stretch/>
        </p:blipFill>
        <p:spPr>
          <a:xfrm>
            <a:off x="1021363" y="3032325"/>
            <a:ext cx="7101274" cy="1183549"/>
          </a:xfrm>
          <a:prstGeom prst="rect">
            <a:avLst/>
          </a:prstGeom>
          <a:noFill/>
          <a:ln>
            <a:noFill/>
          </a:ln>
        </p:spPr>
      </p:pic>
      <p:sp>
        <p:nvSpPr>
          <p:cNvPr id="196" name="Google Shape;196;p31"/>
          <p:cNvSpPr txBox="1"/>
          <p:nvPr>
            <p:ph idx="1" type="body"/>
          </p:nvPr>
        </p:nvSpPr>
        <p:spPr>
          <a:xfrm>
            <a:off x="727650" y="4278400"/>
            <a:ext cx="7688700" cy="7281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lang="es" sz="1800"/>
              <a:t>Elegirá el mínimo de los máximos costes de oportunidad: RADIO.</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0" name="Shape 200"/>
        <p:cNvGrpSpPr/>
        <p:nvPr/>
      </p:nvGrpSpPr>
      <p:grpSpPr>
        <a:xfrm>
          <a:off x="0" y="0"/>
          <a:ext cx="0" cy="0"/>
          <a:chOff x="0" y="0"/>
          <a:chExt cx="0" cy="0"/>
        </a:xfrm>
      </p:grpSpPr>
      <p:sp>
        <p:nvSpPr>
          <p:cNvPr id="201" name="Google Shape;201;p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Ejercicio</a:t>
            </a:r>
            <a:endParaRPr/>
          </a:p>
        </p:txBody>
      </p:sp>
      <p:sp>
        <p:nvSpPr>
          <p:cNvPr id="202" name="Google Shape;202;p32"/>
          <p:cNvSpPr txBox="1"/>
          <p:nvPr>
            <p:ph idx="1" type="body"/>
          </p:nvPr>
        </p:nvSpPr>
        <p:spPr>
          <a:xfrm>
            <a:off x="729450" y="1962925"/>
            <a:ext cx="7688700" cy="22611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lang="es" sz="1800"/>
              <a:t>Los directivos de la agencia de viajes de Barcelona Cabarna.SA quieren plantear una estrategia de expansión hacia el resto de comarcas, por lo que se plantea si fusionarse con la empresa Sol SA, comprar la empresa de la competencia o bien ampliar sus instalaciones.</a:t>
            </a:r>
            <a:endParaRPr sz="1800"/>
          </a:p>
        </p:txBody>
      </p:sp>
      <p:pic>
        <p:nvPicPr>
          <p:cNvPr id="203" name="Google Shape;203;p32"/>
          <p:cNvPicPr preferRelativeResize="0"/>
          <p:nvPr/>
        </p:nvPicPr>
        <p:blipFill rotWithShape="1">
          <a:blip r:embed="rId3">
            <a:alphaModFix/>
          </a:blip>
          <a:srcRect b="39319" l="13485" r="10323" t="30747"/>
          <a:stretch/>
        </p:blipFill>
        <p:spPr>
          <a:xfrm>
            <a:off x="1090338" y="3331551"/>
            <a:ext cx="6966924" cy="15388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7" name="Shape 207"/>
        <p:cNvGrpSpPr/>
        <p:nvPr/>
      </p:nvGrpSpPr>
      <p:grpSpPr>
        <a:xfrm>
          <a:off x="0" y="0"/>
          <a:ext cx="0" cy="0"/>
          <a:chOff x="0" y="0"/>
          <a:chExt cx="0" cy="0"/>
        </a:xfrm>
      </p:grpSpPr>
      <p:sp>
        <p:nvSpPr>
          <p:cNvPr id="208" name="Google Shape;208;p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Valor de Información Perfecta </a:t>
            </a:r>
            <a:endParaRPr/>
          </a:p>
        </p:txBody>
      </p:sp>
      <p:sp>
        <p:nvSpPr>
          <p:cNvPr id="209" name="Google Shape;209;p3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 sz="1800"/>
              <a:t>Información Perfecta: Se cumple con certeza la </a:t>
            </a:r>
            <a:r>
              <a:rPr lang="es" sz="1800"/>
              <a:t>predicción</a:t>
            </a:r>
            <a:r>
              <a:rPr lang="es" sz="1800"/>
              <a:t>.</a:t>
            </a:r>
            <a:endParaRPr sz="1800"/>
          </a:p>
          <a:p>
            <a:pPr indent="0" lvl="0" marL="0" rtl="0" algn="just">
              <a:spcBef>
                <a:spcPts val="1600"/>
              </a:spcBef>
              <a:spcAft>
                <a:spcPts val="0"/>
              </a:spcAft>
              <a:buNone/>
            </a:pPr>
            <a:r>
              <a:rPr lang="es" sz="1800"/>
              <a:t>Información </a:t>
            </a:r>
            <a:r>
              <a:rPr lang="es" sz="1800"/>
              <a:t>Imperfecta</a:t>
            </a:r>
            <a:r>
              <a:rPr lang="es" sz="1800"/>
              <a:t>: un estimado. NO TIENE </a:t>
            </a:r>
            <a:r>
              <a:rPr lang="es" sz="1800"/>
              <a:t>CERTEZA</a:t>
            </a:r>
            <a:r>
              <a:rPr lang="es" sz="1800"/>
              <a:t> Y DESCONOCE INFORMACIÓN </a:t>
            </a:r>
            <a:endParaRPr sz="1800"/>
          </a:p>
          <a:p>
            <a:pPr indent="0" lvl="0" marL="0" rtl="0" algn="just">
              <a:spcBef>
                <a:spcPts val="1600"/>
              </a:spcBef>
              <a:spcAft>
                <a:spcPts val="0"/>
              </a:spcAft>
              <a:buNone/>
            </a:pPr>
            <a:r>
              <a:rPr lang="es" sz="1800"/>
              <a:t>Si la persona que decide tuviera información acerca de </a:t>
            </a:r>
            <a:r>
              <a:rPr lang="es" sz="1800"/>
              <a:t>qué</a:t>
            </a:r>
            <a:r>
              <a:rPr lang="es" sz="1800"/>
              <a:t> estado de la naturaleza se va presentar, preferiría  en cada caso por la mejor alternativa.</a:t>
            </a:r>
            <a:endParaRPr sz="1800"/>
          </a:p>
          <a:p>
            <a:pPr indent="0" lvl="0" marL="0" rtl="0" algn="just">
              <a:spcBef>
                <a:spcPts val="0"/>
              </a:spcBef>
              <a:spcAft>
                <a:spcPts val="0"/>
              </a:spcAft>
              <a:buNone/>
            </a:pPr>
            <a:r>
              <a:t/>
            </a:r>
            <a:endParaRPr sz="1800"/>
          </a:p>
          <a:p>
            <a:pPr indent="0" lvl="0" marL="0" rtl="0" algn="just">
              <a:spcBef>
                <a:spcPts val="1600"/>
              </a:spcBef>
              <a:spcAft>
                <a:spcPts val="1600"/>
              </a:spcAft>
              <a:buNone/>
            </a:pPr>
            <a:r>
              <a:t/>
            </a:r>
            <a:endParaRPr sz="18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3" name="Shape 213"/>
        <p:cNvGrpSpPr/>
        <p:nvPr/>
      </p:nvGrpSpPr>
      <p:grpSpPr>
        <a:xfrm>
          <a:off x="0" y="0"/>
          <a:ext cx="0" cy="0"/>
          <a:chOff x="0" y="0"/>
          <a:chExt cx="0" cy="0"/>
        </a:xfrm>
      </p:grpSpPr>
      <p:sp>
        <p:nvSpPr>
          <p:cNvPr id="214" name="Google Shape;214;p34"/>
          <p:cNvSpPr txBox="1"/>
          <p:nvPr>
            <p:ph idx="1" type="body"/>
          </p:nvPr>
        </p:nvSpPr>
        <p:spPr>
          <a:xfrm>
            <a:off x="727650" y="1646725"/>
            <a:ext cx="7688700" cy="22611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 sz="1800"/>
              <a:t> Lo que </a:t>
            </a:r>
            <a:r>
              <a:rPr lang="es" sz="1800"/>
              <a:t>él</a:t>
            </a:r>
            <a:r>
              <a:rPr lang="es" sz="1800"/>
              <a:t> ganaría con esta decisión recibe el nombre de valor esperado monetario con información perfecta.</a:t>
            </a:r>
            <a:endParaRPr sz="1800"/>
          </a:p>
          <a:p>
            <a:pPr indent="0" lvl="0" marL="0" rtl="0" algn="just">
              <a:spcBef>
                <a:spcPts val="0"/>
              </a:spcBef>
              <a:spcAft>
                <a:spcPts val="0"/>
              </a:spcAft>
              <a:buNone/>
            </a:pPr>
            <a:r>
              <a:rPr lang="es" sz="1800"/>
              <a:t> </a:t>
            </a:r>
            <a:endParaRPr sz="1800"/>
          </a:p>
          <a:p>
            <a:pPr indent="0" lvl="0" marL="0" rtl="0" algn="just">
              <a:spcBef>
                <a:spcPts val="0"/>
              </a:spcBef>
              <a:spcAft>
                <a:spcPts val="0"/>
              </a:spcAft>
              <a:buNone/>
            </a:pPr>
            <a:r>
              <a:rPr lang="es" sz="1800"/>
              <a:t> El valor de la información perfecta,  será la diferencia entre lo que ganaría contando con información perfecta Y lo que ganarías sin ella.</a:t>
            </a:r>
            <a:endParaRPr sz="1800"/>
          </a:p>
          <a:p>
            <a:pPr indent="0" lvl="0" marL="0" rtl="0" algn="just">
              <a:spcBef>
                <a:spcPts val="0"/>
              </a:spcBef>
              <a:spcAft>
                <a:spcPts val="0"/>
              </a:spcAft>
              <a:buNone/>
            </a:pPr>
            <a:r>
              <a:rPr lang="es" sz="1800"/>
              <a:t> </a:t>
            </a:r>
            <a:endParaRPr sz="1800"/>
          </a:p>
          <a:p>
            <a:pPr indent="0" lvl="0" marL="0" rtl="0" algn="just">
              <a:spcBef>
                <a:spcPts val="0"/>
              </a:spcBef>
              <a:spcAft>
                <a:spcPts val="1600"/>
              </a:spcAft>
              <a:buNone/>
            </a:pPr>
            <a:r>
              <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8" name="Shape 218"/>
        <p:cNvGrpSpPr/>
        <p:nvPr/>
      </p:nvGrpSpPr>
      <p:grpSpPr>
        <a:xfrm>
          <a:off x="0" y="0"/>
          <a:ext cx="0" cy="0"/>
          <a:chOff x="0" y="0"/>
          <a:chExt cx="0" cy="0"/>
        </a:xfrm>
      </p:grpSpPr>
      <p:pic>
        <p:nvPicPr>
          <p:cNvPr id="219" name="Google Shape;219;p35"/>
          <p:cNvPicPr preferRelativeResize="0"/>
          <p:nvPr/>
        </p:nvPicPr>
        <p:blipFill>
          <a:blip r:embed="rId3">
            <a:alphaModFix/>
          </a:blip>
          <a:stretch>
            <a:fillRect/>
          </a:stretch>
        </p:blipFill>
        <p:spPr>
          <a:xfrm>
            <a:off x="785050" y="645699"/>
            <a:ext cx="7573900" cy="43577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