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B140-DB04-4A2C-8649-776C95712651}" type="datetimeFigureOut">
              <a:rPr lang="es-MX" smtClean="0"/>
              <a:t>07/04/2018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86A14-60E7-4824-97E4-664D4CA57A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7459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B140-DB04-4A2C-8649-776C95712651}" type="datetimeFigureOut">
              <a:rPr lang="es-MX" smtClean="0"/>
              <a:t>07/04/2018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86A14-60E7-4824-97E4-664D4CA57A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6873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B140-DB04-4A2C-8649-776C95712651}" type="datetimeFigureOut">
              <a:rPr lang="es-MX" smtClean="0"/>
              <a:t>07/04/2018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86A14-60E7-4824-97E4-664D4CA57A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4533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B140-DB04-4A2C-8649-776C95712651}" type="datetimeFigureOut">
              <a:rPr lang="es-MX" smtClean="0"/>
              <a:t>07/04/2018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86A14-60E7-4824-97E4-664D4CA57A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48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B140-DB04-4A2C-8649-776C95712651}" type="datetimeFigureOut">
              <a:rPr lang="es-MX" smtClean="0"/>
              <a:t>07/04/2018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86A14-60E7-4824-97E4-664D4CA57A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77052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B140-DB04-4A2C-8649-776C95712651}" type="datetimeFigureOut">
              <a:rPr lang="es-MX" smtClean="0"/>
              <a:t>07/04/2018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86A14-60E7-4824-97E4-664D4CA57A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93645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B140-DB04-4A2C-8649-776C95712651}" type="datetimeFigureOut">
              <a:rPr lang="es-MX" smtClean="0"/>
              <a:t>07/04/2018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86A14-60E7-4824-97E4-664D4CA57A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04869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B140-DB04-4A2C-8649-776C95712651}" type="datetimeFigureOut">
              <a:rPr lang="es-MX" smtClean="0"/>
              <a:t>07/04/2018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86A14-60E7-4824-97E4-664D4CA57A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8501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B140-DB04-4A2C-8649-776C95712651}" type="datetimeFigureOut">
              <a:rPr lang="es-MX" smtClean="0"/>
              <a:t>07/04/2018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86A14-60E7-4824-97E4-664D4CA57A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34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B140-DB04-4A2C-8649-776C95712651}" type="datetimeFigureOut">
              <a:rPr lang="es-MX" smtClean="0"/>
              <a:t>07/04/2018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86A14-60E7-4824-97E4-664D4CA57A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8501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B140-DB04-4A2C-8649-776C95712651}" type="datetimeFigureOut">
              <a:rPr lang="es-MX" smtClean="0"/>
              <a:t>07/04/2018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86A14-60E7-4824-97E4-664D4CA57A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06616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F1B140-DB04-4A2C-8649-776C95712651}" type="datetimeFigureOut">
              <a:rPr lang="es-MX" smtClean="0"/>
              <a:t>07/04/2018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E86A14-60E7-4824-97E4-664D4CA57A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308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/>
              <a:t>EJEMPLO DE APLICACIÓN</a:t>
            </a:r>
            <a:endParaRPr lang="es-MX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s-MX" b="1" dirty="0" smtClean="0">
                <a:solidFill>
                  <a:srgbClr val="3333CC"/>
                </a:solidFill>
                <a:latin typeface="Comic Sans MS" panose="030F0702030302020204" pitchFamily="66" charset="0"/>
              </a:rPr>
              <a:t>TEOREMA DE BAYES</a:t>
            </a:r>
            <a:endParaRPr lang="en-US" altLang="es-MX" b="1" dirty="0">
              <a:solidFill>
                <a:srgbClr val="3333CC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298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0" y="274639"/>
            <a:ext cx="8147050" cy="490537"/>
          </a:xfrm>
        </p:spPr>
        <p:txBody>
          <a:bodyPr/>
          <a:lstStyle/>
          <a:p>
            <a:r>
              <a:rPr lang="en-US" altLang="es-MX" sz="2800" b="1">
                <a:solidFill>
                  <a:srgbClr val="3333CC"/>
                </a:solidFill>
                <a:latin typeface="Comic Sans MS" panose="030F0702030302020204" pitchFamily="66" charset="0"/>
              </a:rPr>
              <a:t>PROBABILIDAD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981075"/>
            <a:ext cx="9144000" cy="5614988"/>
          </a:xfrm>
        </p:spPr>
        <p:txBody>
          <a:bodyPr/>
          <a:lstStyle/>
          <a:p>
            <a:pPr algn="just">
              <a:buFontTx/>
              <a:buNone/>
            </a:pPr>
            <a:r>
              <a:rPr lang="es-MX" altLang="es-MX" b="1">
                <a:latin typeface="Comic Sans MS" panose="030F0702030302020204" pitchFamily="66" charset="0"/>
              </a:rPr>
              <a:t>Teorema de Bayes.- </a:t>
            </a:r>
            <a:r>
              <a:rPr lang="es-MX" altLang="es-MX">
                <a:latin typeface="Comic Sans MS" panose="030F0702030302020204" pitchFamily="66" charset="0"/>
              </a:rPr>
              <a:t> Supóngase que </a:t>
            </a:r>
            <a:r>
              <a:rPr lang="es-MX" altLang="es-MX" b="1">
                <a:latin typeface="Comic Sans MS" panose="030F0702030302020204" pitchFamily="66" charset="0"/>
              </a:rPr>
              <a:t>A</a:t>
            </a:r>
            <a:r>
              <a:rPr lang="es-MX" altLang="es-MX" b="1" baseline="-25000">
                <a:latin typeface="Comic Sans MS" panose="030F0702030302020204" pitchFamily="66" charset="0"/>
              </a:rPr>
              <a:t>1</a:t>
            </a:r>
            <a:r>
              <a:rPr lang="es-MX" altLang="es-MX">
                <a:latin typeface="Comic Sans MS" panose="030F0702030302020204" pitchFamily="66" charset="0"/>
              </a:rPr>
              <a:t>, A</a:t>
            </a:r>
            <a:r>
              <a:rPr lang="es-MX" altLang="es-MX" baseline="-25000">
                <a:latin typeface="Comic Sans MS" panose="030F0702030302020204" pitchFamily="66" charset="0"/>
              </a:rPr>
              <a:t>2</a:t>
            </a:r>
            <a:r>
              <a:rPr lang="es-MX" altLang="es-MX">
                <a:latin typeface="Comic Sans MS" panose="030F0702030302020204" pitchFamily="66" charset="0"/>
              </a:rPr>
              <a:t>, A</a:t>
            </a:r>
            <a:r>
              <a:rPr lang="es-MX" altLang="es-MX" baseline="-25000">
                <a:latin typeface="Comic Sans MS" panose="030F0702030302020204" pitchFamily="66" charset="0"/>
              </a:rPr>
              <a:t>3</a:t>
            </a:r>
            <a:r>
              <a:rPr lang="es-MX" altLang="es-MX">
                <a:latin typeface="Comic Sans MS" panose="030F0702030302020204" pitchFamily="66" charset="0"/>
              </a:rPr>
              <a:t>,...,A</a:t>
            </a:r>
            <a:r>
              <a:rPr lang="es-MX" altLang="es-MX" baseline="-25000">
                <a:latin typeface="Comic Sans MS" panose="030F0702030302020204" pitchFamily="66" charset="0"/>
              </a:rPr>
              <a:t>n</a:t>
            </a:r>
            <a:r>
              <a:rPr lang="es-MX" altLang="es-MX">
                <a:latin typeface="Comic Sans MS" panose="030F0702030302020204" pitchFamily="66" charset="0"/>
              </a:rPr>
              <a:t> es</a:t>
            </a:r>
            <a:r>
              <a:rPr lang="es-MX" altLang="es-MX" b="1">
                <a:latin typeface="Comic Sans MS" panose="030F0702030302020204" pitchFamily="66" charset="0"/>
              </a:rPr>
              <a:t> </a:t>
            </a:r>
            <a:r>
              <a:rPr lang="es-MX" altLang="es-MX">
                <a:latin typeface="Comic Sans MS" panose="030F0702030302020204" pitchFamily="66" charset="0"/>
              </a:rPr>
              <a:t>una partición de un espacio muestral Ω.  En cada caso P(A</a:t>
            </a:r>
            <a:r>
              <a:rPr lang="es-MX" altLang="es-MX" baseline="-25000">
                <a:latin typeface="Comic Sans MS" panose="030F0702030302020204" pitchFamily="66" charset="0"/>
              </a:rPr>
              <a:t>i</a:t>
            </a:r>
            <a:r>
              <a:rPr lang="es-MX" altLang="es-MX">
                <a:latin typeface="Comic Sans MS" panose="030F0702030302020204" pitchFamily="66" charset="0"/>
              </a:rPr>
              <a:t>) ≠ 0.  La partición es tal que </a:t>
            </a:r>
            <a:r>
              <a:rPr lang="es-MX" altLang="es-MX" b="1">
                <a:latin typeface="Comic Sans MS" panose="030F0702030302020204" pitchFamily="66" charset="0"/>
              </a:rPr>
              <a:t>A</a:t>
            </a:r>
            <a:r>
              <a:rPr lang="es-MX" altLang="es-MX" b="1" baseline="-25000">
                <a:latin typeface="Comic Sans MS" panose="030F0702030302020204" pitchFamily="66" charset="0"/>
              </a:rPr>
              <a:t>1</a:t>
            </a:r>
            <a:r>
              <a:rPr lang="es-MX" altLang="es-MX">
                <a:latin typeface="Comic Sans MS" panose="030F0702030302020204" pitchFamily="66" charset="0"/>
              </a:rPr>
              <a:t>, A</a:t>
            </a:r>
            <a:r>
              <a:rPr lang="es-MX" altLang="es-MX" baseline="-25000">
                <a:latin typeface="Comic Sans MS" panose="030F0702030302020204" pitchFamily="66" charset="0"/>
              </a:rPr>
              <a:t>2</a:t>
            </a:r>
            <a:r>
              <a:rPr lang="es-MX" altLang="es-MX">
                <a:latin typeface="Comic Sans MS" panose="030F0702030302020204" pitchFamily="66" charset="0"/>
              </a:rPr>
              <a:t>, A</a:t>
            </a:r>
            <a:r>
              <a:rPr lang="es-MX" altLang="es-MX" baseline="-25000">
                <a:latin typeface="Comic Sans MS" panose="030F0702030302020204" pitchFamily="66" charset="0"/>
              </a:rPr>
              <a:t>3</a:t>
            </a:r>
            <a:r>
              <a:rPr lang="es-MX" altLang="es-MX">
                <a:latin typeface="Comic Sans MS" panose="030F0702030302020204" pitchFamily="66" charset="0"/>
              </a:rPr>
              <a:t>,...,A</a:t>
            </a:r>
            <a:r>
              <a:rPr lang="es-MX" altLang="es-MX" baseline="-25000">
                <a:latin typeface="Comic Sans MS" panose="030F0702030302020204" pitchFamily="66" charset="0"/>
              </a:rPr>
              <a:t>n</a:t>
            </a:r>
            <a:r>
              <a:rPr lang="es-MX" altLang="es-MX">
                <a:latin typeface="Comic Sans MS" panose="030F0702030302020204" pitchFamily="66" charset="0"/>
              </a:rPr>
              <a:t>, son eventos mutuamente exclusivos.  Sea E cualquier evento, entonces para cualquier A</a:t>
            </a:r>
            <a:r>
              <a:rPr lang="es-MX" altLang="es-MX" baseline="-25000">
                <a:latin typeface="Comic Sans MS" panose="030F0702030302020204" pitchFamily="66" charset="0"/>
              </a:rPr>
              <a:t>i</a:t>
            </a:r>
            <a:r>
              <a:rPr lang="es-MX" altLang="es-MX">
                <a:latin typeface="Comic Sans MS" panose="030F0702030302020204" pitchFamily="66" charset="0"/>
              </a:rPr>
              <a:t>,</a:t>
            </a:r>
            <a:r>
              <a:rPr lang="es-MX" altLang="es-MX"/>
              <a:t> </a:t>
            </a:r>
            <a:endParaRPr lang="es-MX" altLang="es-MX" b="1"/>
          </a:p>
          <a:p>
            <a:endParaRPr lang="en-US" altLang="es-MX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MX"/>
          </a:p>
        </p:txBody>
      </p:sp>
      <p:graphicFrame>
        <p:nvGraphicFramePr>
          <p:cNvPr id="82948" name="Object 4"/>
          <p:cNvGraphicFramePr>
            <a:graphicFrameLocks noChangeAspect="1"/>
          </p:cNvGraphicFramePr>
          <p:nvPr/>
        </p:nvGraphicFramePr>
        <p:xfrm>
          <a:off x="1524000" y="3789363"/>
          <a:ext cx="9144000" cy="1350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1231560" imgH="164880" progId="Equation.3">
                  <p:embed/>
                </p:oleObj>
              </mc:Choice>
              <mc:Fallback>
                <p:oleObj name="Equation" r:id="rId3" imgW="123156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789363"/>
                        <a:ext cx="9144000" cy="1350962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2437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s-MX" sz="3200" b="1">
                <a:solidFill>
                  <a:srgbClr val="3333CC"/>
                </a:solidFill>
                <a:latin typeface="Comic Sans MS" panose="030F0702030302020204" pitchFamily="66" charset="0"/>
              </a:rPr>
              <a:t>PROBABILIDAD</a:t>
            </a:r>
          </a:p>
        </p:txBody>
      </p:sp>
      <p:graphicFrame>
        <p:nvGraphicFramePr>
          <p:cNvPr id="90116" name="Object 4"/>
          <p:cNvGraphicFramePr>
            <a:graphicFrameLocks noChangeAspect="1"/>
          </p:cNvGraphicFramePr>
          <p:nvPr>
            <p:ph idx="1"/>
          </p:nvPr>
        </p:nvGraphicFramePr>
        <p:xfrm>
          <a:off x="2279650" y="1989138"/>
          <a:ext cx="7488238" cy="302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952200" imgH="393480" progId="Equation.3">
                  <p:embed/>
                </p:oleObj>
              </mc:Choice>
              <mc:Fallback>
                <p:oleObj name="Equation" r:id="rId3" imgW="9522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1989138"/>
                        <a:ext cx="7488238" cy="3028950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1429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4" y="274639"/>
            <a:ext cx="8218487" cy="274637"/>
          </a:xfrm>
        </p:spPr>
        <p:txBody>
          <a:bodyPr>
            <a:normAutofit fontScale="90000"/>
          </a:bodyPr>
          <a:lstStyle/>
          <a:p>
            <a:r>
              <a:rPr lang="en-US" altLang="es-MX" sz="2800" b="1">
                <a:solidFill>
                  <a:srgbClr val="3333CC"/>
                </a:solidFill>
                <a:latin typeface="Comic Sans MS" panose="030F0702030302020204" pitchFamily="66" charset="0"/>
              </a:rPr>
              <a:t>PROBABILIDAD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3750" y="836614"/>
            <a:ext cx="8147050" cy="5616575"/>
          </a:xfrm>
        </p:spPr>
        <p:txBody>
          <a:bodyPr/>
          <a:lstStyle/>
          <a:p>
            <a:pPr algn="just">
              <a:buFontTx/>
              <a:buNone/>
            </a:pPr>
            <a:r>
              <a:rPr lang="es-MX" altLang="es-MX" b="1">
                <a:latin typeface="Comic Sans MS" panose="030F0702030302020204" pitchFamily="66" charset="0"/>
              </a:rPr>
              <a:t>Ejemplo.-</a:t>
            </a:r>
            <a:r>
              <a:rPr lang="es-MX" altLang="es-MX">
                <a:latin typeface="Comic Sans MS" panose="030F0702030302020204" pitchFamily="66" charset="0"/>
              </a:rPr>
              <a:t> </a:t>
            </a:r>
          </a:p>
          <a:p>
            <a:pPr algn="just">
              <a:buFontTx/>
              <a:buNone/>
            </a:pPr>
            <a:r>
              <a:rPr lang="es-MX" altLang="es-MX">
                <a:latin typeface="Comic Sans MS" panose="030F0702030302020204" pitchFamily="66" charset="0"/>
              </a:rPr>
              <a:t>En una pequeña empresa de tejidos se obtiene su producción con tres máquinas hiladoras M</a:t>
            </a:r>
            <a:r>
              <a:rPr lang="es-MX" altLang="es-MX" baseline="-25000">
                <a:latin typeface="Comic Sans MS" panose="030F0702030302020204" pitchFamily="66" charset="0"/>
              </a:rPr>
              <a:t>1</a:t>
            </a:r>
            <a:r>
              <a:rPr lang="es-MX" altLang="es-MX">
                <a:latin typeface="Comic Sans MS" panose="030F0702030302020204" pitchFamily="66" charset="0"/>
              </a:rPr>
              <a:t>, M</a:t>
            </a:r>
            <a:r>
              <a:rPr lang="es-MX" altLang="es-MX" baseline="-25000">
                <a:latin typeface="Comic Sans MS" panose="030F0702030302020204" pitchFamily="66" charset="0"/>
              </a:rPr>
              <a:t>2</a:t>
            </a:r>
            <a:r>
              <a:rPr lang="es-MX" altLang="es-MX">
                <a:latin typeface="Comic Sans MS" panose="030F0702030302020204" pitchFamily="66" charset="0"/>
              </a:rPr>
              <a:t> y M</a:t>
            </a:r>
            <a:r>
              <a:rPr lang="es-MX" altLang="es-MX" baseline="-25000">
                <a:latin typeface="Comic Sans MS" panose="030F0702030302020204" pitchFamily="66" charset="0"/>
              </a:rPr>
              <a:t>3</a:t>
            </a:r>
            <a:r>
              <a:rPr lang="es-MX" altLang="es-MX">
                <a:latin typeface="Comic Sans MS" panose="030F0702030302020204" pitchFamily="66" charset="0"/>
              </a:rPr>
              <a:t> que producen respectivamente 50%, 30% y el 20% del número total de artículos producidos.  </a:t>
            </a:r>
          </a:p>
          <a:p>
            <a:pPr algn="just">
              <a:buFontTx/>
              <a:buNone/>
            </a:pPr>
            <a:r>
              <a:rPr lang="es-MX" altLang="es-MX">
                <a:latin typeface="Comic Sans MS" panose="030F0702030302020204" pitchFamily="66" charset="0"/>
              </a:rPr>
              <a:t>Los porcentajes de productos defectuosos producidos por estas máquinas son 3%, 4% y 5%.  Supóngase que se selecciona un artículo al azar y resulta  ser defectuoso.  ¿Cuál sería la probabilidad de que el artículo haya sido producido por la máquina M1?</a:t>
            </a:r>
          </a:p>
        </p:txBody>
      </p:sp>
    </p:spTree>
    <p:extLst>
      <p:ext uri="{BB962C8B-B14F-4D97-AF65-F5344CB8AC3E}">
        <p14:creationId xmlns:p14="http://schemas.microsoft.com/office/powerpoint/2010/main" val="1254300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4" y="274639"/>
            <a:ext cx="8218487" cy="274637"/>
          </a:xfrm>
        </p:spPr>
        <p:txBody>
          <a:bodyPr>
            <a:normAutofit fontScale="90000"/>
          </a:bodyPr>
          <a:lstStyle/>
          <a:p>
            <a:r>
              <a:rPr lang="en-US" altLang="es-MX" sz="2800" b="1">
                <a:solidFill>
                  <a:srgbClr val="3333CC"/>
                </a:solidFill>
                <a:latin typeface="Comic Sans MS" panose="030F0702030302020204" pitchFamily="66" charset="0"/>
              </a:rPr>
              <a:t>PROBABILIDAD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3750" y="836614"/>
            <a:ext cx="8147050" cy="5616575"/>
          </a:xfrm>
        </p:spPr>
        <p:txBody>
          <a:bodyPr/>
          <a:lstStyle/>
          <a:p>
            <a:pPr algn="just">
              <a:buFontTx/>
              <a:buNone/>
            </a:pPr>
            <a:r>
              <a:rPr lang="es-MX" altLang="es-MX" b="1">
                <a:latin typeface="Comic Sans MS" panose="030F0702030302020204" pitchFamily="66" charset="0"/>
              </a:rPr>
              <a:t>Ejemplo.-</a:t>
            </a:r>
            <a:r>
              <a:rPr lang="es-MX" altLang="es-MX">
                <a:latin typeface="Comic Sans MS" panose="030F0702030302020204" pitchFamily="66" charset="0"/>
              </a:rPr>
              <a:t> </a:t>
            </a:r>
          </a:p>
          <a:p>
            <a:pPr algn="just">
              <a:buFontTx/>
              <a:buNone/>
            </a:pPr>
            <a:r>
              <a:rPr lang="es-MX" altLang="es-MX">
                <a:latin typeface="Comic Sans MS" panose="030F0702030302020204" pitchFamily="66" charset="0"/>
              </a:rPr>
              <a:t>En una pequeña empresa de tejidos se obtiene su producción con tres máquinas hiladoras M</a:t>
            </a:r>
            <a:r>
              <a:rPr lang="es-MX" altLang="es-MX" baseline="-25000">
                <a:latin typeface="Comic Sans MS" panose="030F0702030302020204" pitchFamily="66" charset="0"/>
              </a:rPr>
              <a:t>1</a:t>
            </a:r>
            <a:r>
              <a:rPr lang="es-MX" altLang="es-MX">
                <a:latin typeface="Comic Sans MS" panose="030F0702030302020204" pitchFamily="66" charset="0"/>
              </a:rPr>
              <a:t>, M</a:t>
            </a:r>
            <a:r>
              <a:rPr lang="es-MX" altLang="es-MX" baseline="-25000">
                <a:latin typeface="Comic Sans MS" panose="030F0702030302020204" pitchFamily="66" charset="0"/>
              </a:rPr>
              <a:t>2</a:t>
            </a:r>
            <a:r>
              <a:rPr lang="es-MX" altLang="es-MX">
                <a:latin typeface="Comic Sans MS" panose="030F0702030302020204" pitchFamily="66" charset="0"/>
              </a:rPr>
              <a:t> y M</a:t>
            </a:r>
            <a:r>
              <a:rPr lang="es-MX" altLang="es-MX" baseline="-25000">
                <a:latin typeface="Comic Sans MS" panose="030F0702030302020204" pitchFamily="66" charset="0"/>
              </a:rPr>
              <a:t>3</a:t>
            </a:r>
            <a:r>
              <a:rPr lang="es-MX" altLang="es-MX">
                <a:latin typeface="Comic Sans MS" panose="030F0702030302020204" pitchFamily="66" charset="0"/>
              </a:rPr>
              <a:t> que producen respectivamente 50%, 30% y el 20% del número total de artículos producidos.  </a:t>
            </a:r>
          </a:p>
          <a:p>
            <a:pPr algn="just">
              <a:buFontTx/>
              <a:buNone/>
            </a:pPr>
            <a:r>
              <a:rPr lang="es-MX" altLang="es-MX">
                <a:latin typeface="Comic Sans MS" panose="030F0702030302020204" pitchFamily="66" charset="0"/>
              </a:rPr>
              <a:t>Los porcentajes de productos defectuosos producidos por estas máquinas son 3%, 4% y 5%.  Supóngase que se selecciona un artículo al azar y resulta  ser defectuoso.  ¿Cuál sería la probabilidad de que el artículo haya sido producido por la máquina M1?</a:t>
            </a:r>
          </a:p>
        </p:txBody>
      </p:sp>
    </p:spTree>
    <p:extLst>
      <p:ext uri="{BB962C8B-B14F-4D97-AF65-F5344CB8AC3E}">
        <p14:creationId xmlns:p14="http://schemas.microsoft.com/office/powerpoint/2010/main" val="1909153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0" y="1"/>
            <a:ext cx="8147050" cy="346075"/>
          </a:xfrm>
        </p:spPr>
        <p:txBody>
          <a:bodyPr>
            <a:normAutofit fontScale="90000"/>
          </a:bodyPr>
          <a:lstStyle/>
          <a:p>
            <a:r>
              <a:rPr lang="en-US" altLang="es-MX" sz="2800" b="1">
                <a:solidFill>
                  <a:srgbClr val="3333CC"/>
                </a:solidFill>
                <a:latin typeface="Comic Sans MS" panose="030F0702030302020204" pitchFamily="66" charset="0"/>
              </a:rPr>
              <a:t>PROBABILIDAD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851" y="620714"/>
            <a:ext cx="8569325" cy="5832475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s-MX" altLang="es-MX">
                <a:latin typeface="Comic Sans MS" panose="030F0702030302020204" pitchFamily="66" charset="0"/>
              </a:rPr>
              <a:t>Sea </a:t>
            </a:r>
          </a:p>
          <a:p>
            <a:pPr>
              <a:buFontTx/>
              <a:buNone/>
            </a:pPr>
            <a:r>
              <a:rPr lang="es-MX" altLang="es-MX">
                <a:latin typeface="Comic Sans MS" panose="030F0702030302020204" pitchFamily="66" charset="0"/>
              </a:rPr>
              <a:t>D: Que el artículo sea defectuoso</a:t>
            </a:r>
          </a:p>
          <a:p>
            <a:pPr>
              <a:buFontTx/>
              <a:buNone/>
            </a:pPr>
            <a:r>
              <a:rPr lang="es-MX" altLang="es-MX">
                <a:latin typeface="Comic Sans MS" panose="030F0702030302020204" pitchFamily="66" charset="0"/>
              </a:rPr>
              <a:t>ND: Que el artículo no sea defectuoso</a:t>
            </a:r>
          </a:p>
          <a:p>
            <a:pPr>
              <a:buFontTx/>
              <a:buNone/>
            </a:pPr>
            <a:r>
              <a:rPr lang="es-MX" altLang="es-MX">
                <a:latin typeface="Comic Sans MS" panose="030F0702030302020204" pitchFamily="66" charset="0"/>
              </a:rPr>
              <a:t>M</a:t>
            </a:r>
            <a:r>
              <a:rPr lang="es-MX" altLang="es-MX" baseline="-25000">
                <a:latin typeface="Comic Sans MS" panose="030F0702030302020204" pitchFamily="66" charset="0"/>
              </a:rPr>
              <a:t>1</a:t>
            </a:r>
            <a:r>
              <a:rPr lang="es-MX" altLang="es-MX">
                <a:latin typeface="Comic Sans MS" panose="030F0702030302020204" pitchFamily="66" charset="0"/>
              </a:rPr>
              <a:t>: Que haya sido producido por la máquina 1</a:t>
            </a:r>
            <a:endParaRPr lang="es-MX" altLang="es-MX" baseline="-25000">
              <a:latin typeface="Comic Sans MS" panose="030F0702030302020204" pitchFamily="66" charset="0"/>
            </a:endParaRPr>
          </a:p>
          <a:p>
            <a:pPr>
              <a:buFontTx/>
              <a:buNone/>
            </a:pPr>
            <a:r>
              <a:rPr lang="es-MX" altLang="es-MX">
                <a:latin typeface="Comic Sans MS" panose="030F0702030302020204" pitchFamily="66" charset="0"/>
              </a:rPr>
              <a:t>M</a:t>
            </a:r>
            <a:r>
              <a:rPr lang="es-MX" altLang="es-MX" baseline="-25000">
                <a:latin typeface="Comic Sans MS" panose="030F0702030302020204" pitchFamily="66" charset="0"/>
              </a:rPr>
              <a:t>2</a:t>
            </a:r>
            <a:r>
              <a:rPr lang="es-MX" altLang="es-MX">
                <a:latin typeface="Comic Sans MS" panose="030F0702030302020204" pitchFamily="66" charset="0"/>
              </a:rPr>
              <a:t>: Que haya sido producido por la máquina 2</a:t>
            </a:r>
          </a:p>
          <a:p>
            <a:pPr>
              <a:buFontTx/>
              <a:buNone/>
            </a:pPr>
            <a:r>
              <a:rPr lang="es-MX" altLang="es-MX">
                <a:latin typeface="Comic Sans MS" panose="030F0702030302020204" pitchFamily="66" charset="0"/>
              </a:rPr>
              <a:t>M</a:t>
            </a:r>
            <a:r>
              <a:rPr lang="es-MX" altLang="es-MX" baseline="-25000">
                <a:latin typeface="Comic Sans MS" panose="030F0702030302020204" pitchFamily="66" charset="0"/>
              </a:rPr>
              <a:t>3</a:t>
            </a:r>
            <a:r>
              <a:rPr lang="es-MX" altLang="es-MX">
                <a:latin typeface="Comic Sans MS" panose="030F0702030302020204" pitchFamily="66" charset="0"/>
              </a:rPr>
              <a:t>: Que haya sido producido por la máquina 3</a:t>
            </a:r>
            <a:endParaRPr lang="es-MX" altLang="es-MX" baseline="-25000">
              <a:latin typeface="Comic Sans MS" panose="030F0702030302020204" pitchFamily="66" charset="0"/>
            </a:endParaRPr>
          </a:p>
          <a:p>
            <a:pPr>
              <a:buFontTx/>
              <a:buNone/>
            </a:pPr>
            <a:endParaRPr lang="es-MX" altLang="es-MX" baseline="-25000">
              <a:latin typeface="Comic Sans MS" panose="030F0702030302020204" pitchFamily="66" charset="0"/>
            </a:endParaRPr>
          </a:p>
          <a:p>
            <a:pPr>
              <a:buFontTx/>
              <a:buNone/>
            </a:pPr>
            <a:r>
              <a:rPr lang="es-MX" altLang="es-MX">
                <a:latin typeface="Comic Sans MS" panose="030F0702030302020204" pitchFamily="66" charset="0"/>
              </a:rPr>
              <a:t>P(M</a:t>
            </a:r>
            <a:r>
              <a:rPr lang="es-MX" altLang="es-MX" baseline="-25000">
                <a:latin typeface="Comic Sans MS" panose="030F0702030302020204" pitchFamily="66" charset="0"/>
              </a:rPr>
              <a:t>1</a:t>
            </a:r>
            <a:r>
              <a:rPr lang="es-MX" altLang="es-MX">
                <a:latin typeface="Comic Sans MS" panose="030F0702030302020204" pitchFamily="66" charset="0"/>
              </a:rPr>
              <a:t>) = .50             P(D/M</a:t>
            </a:r>
            <a:r>
              <a:rPr lang="es-MX" altLang="es-MX" baseline="-25000">
                <a:latin typeface="Comic Sans MS" panose="030F0702030302020204" pitchFamily="66" charset="0"/>
              </a:rPr>
              <a:t>1</a:t>
            </a:r>
            <a:r>
              <a:rPr lang="es-MX" altLang="es-MX">
                <a:latin typeface="Comic Sans MS" panose="030F0702030302020204" pitchFamily="66" charset="0"/>
              </a:rPr>
              <a:t>) = .03</a:t>
            </a:r>
          </a:p>
          <a:p>
            <a:pPr>
              <a:buFontTx/>
              <a:buNone/>
            </a:pPr>
            <a:r>
              <a:rPr lang="es-MX" altLang="es-MX">
                <a:latin typeface="Comic Sans MS" panose="030F0702030302020204" pitchFamily="66" charset="0"/>
              </a:rPr>
              <a:t>P(M</a:t>
            </a:r>
            <a:r>
              <a:rPr lang="es-MX" altLang="es-MX" baseline="-25000">
                <a:latin typeface="Comic Sans MS" panose="030F0702030302020204" pitchFamily="66" charset="0"/>
              </a:rPr>
              <a:t>2</a:t>
            </a:r>
            <a:r>
              <a:rPr lang="es-MX" altLang="es-MX">
                <a:latin typeface="Comic Sans MS" panose="030F0702030302020204" pitchFamily="66" charset="0"/>
              </a:rPr>
              <a:t>) = .30             P(D/M</a:t>
            </a:r>
            <a:r>
              <a:rPr lang="es-MX" altLang="es-MX" baseline="-25000">
                <a:latin typeface="Comic Sans MS" panose="030F0702030302020204" pitchFamily="66" charset="0"/>
              </a:rPr>
              <a:t>2</a:t>
            </a:r>
            <a:r>
              <a:rPr lang="es-MX" altLang="es-MX">
                <a:latin typeface="Comic Sans MS" panose="030F0702030302020204" pitchFamily="66" charset="0"/>
              </a:rPr>
              <a:t>) = .04</a:t>
            </a:r>
          </a:p>
          <a:p>
            <a:pPr>
              <a:buFontTx/>
              <a:buNone/>
            </a:pPr>
            <a:r>
              <a:rPr lang="es-MX" altLang="es-MX">
                <a:latin typeface="Comic Sans MS" panose="030F0702030302020204" pitchFamily="66" charset="0"/>
              </a:rPr>
              <a:t>P(M</a:t>
            </a:r>
            <a:r>
              <a:rPr lang="es-MX" altLang="es-MX" baseline="-25000">
                <a:latin typeface="Comic Sans MS" panose="030F0702030302020204" pitchFamily="66" charset="0"/>
              </a:rPr>
              <a:t>3</a:t>
            </a:r>
            <a:r>
              <a:rPr lang="es-MX" altLang="es-MX">
                <a:latin typeface="Comic Sans MS" panose="030F0702030302020204" pitchFamily="66" charset="0"/>
              </a:rPr>
              <a:t>) = .20             P(D/M</a:t>
            </a:r>
            <a:r>
              <a:rPr lang="es-MX" altLang="es-MX" baseline="-25000">
                <a:latin typeface="Comic Sans MS" panose="030F0702030302020204" pitchFamily="66" charset="0"/>
              </a:rPr>
              <a:t>3</a:t>
            </a:r>
            <a:r>
              <a:rPr lang="es-MX" altLang="es-MX">
                <a:latin typeface="Comic Sans MS" panose="030F0702030302020204" pitchFamily="66" charset="0"/>
              </a:rPr>
              <a:t>) = .05</a:t>
            </a:r>
          </a:p>
          <a:p>
            <a:pPr>
              <a:buFontTx/>
              <a:buNone/>
            </a:pPr>
            <a:endParaRPr lang="es-MX" altLang="es-MX" baseline="-25000">
              <a:latin typeface="Comic Sans MS" panose="030F0702030302020204" pitchFamily="66" charset="0"/>
            </a:endParaRPr>
          </a:p>
          <a:p>
            <a:pPr>
              <a:buFontTx/>
              <a:buNone/>
            </a:pPr>
            <a:r>
              <a:rPr lang="es-MX" altLang="es-MX" b="1">
                <a:latin typeface="Comic Sans MS" panose="030F0702030302020204" pitchFamily="66" charset="0"/>
              </a:rPr>
              <a:t>          </a:t>
            </a:r>
            <a:endParaRPr lang="en-US" altLang="es-MX" b="1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513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076" name="Group 36"/>
          <p:cNvGrpSpPr>
            <a:grpSpLocks/>
          </p:cNvGrpSpPr>
          <p:nvPr/>
        </p:nvGrpSpPr>
        <p:grpSpPr bwMode="auto">
          <a:xfrm>
            <a:off x="2063750" y="836614"/>
            <a:ext cx="8604250" cy="5634037"/>
            <a:chOff x="340" y="618"/>
            <a:chExt cx="5420" cy="3549"/>
          </a:xfrm>
        </p:grpSpPr>
        <p:sp>
          <p:nvSpPr>
            <p:cNvPr id="87044" name="Text Box 4"/>
            <p:cNvSpPr txBox="1">
              <a:spLocks noChangeArrowheads="1"/>
            </p:cNvSpPr>
            <p:nvPr/>
          </p:nvSpPr>
          <p:spPr bwMode="auto">
            <a:xfrm>
              <a:off x="1429" y="929"/>
              <a:ext cx="7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MX" altLang="es-MX" sz="2400" b="1">
                  <a:latin typeface="Comic Sans MS" panose="030F0702030302020204" pitchFamily="66" charset="0"/>
                </a:rPr>
                <a:t>M</a:t>
              </a:r>
              <a:r>
                <a:rPr lang="es-MX" altLang="es-MX" sz="2000" b="1" baseline="-25000">
                  <a:latin typeface="Comic Sans MS" panose="030F0702030302020204" pitchFamily="66" charset="0"/>
                </a:rPr>
                <a:t>1</a:t>
              </a:r>
              <a:endParaRPr lang="en-US" altLang="es-MX" sz="2000" b="1">
                <a:latin typeface="Comic Sans MS" panose="030F0702030302020204" pitchFamily="66" charset="0"/>
              </a:endParaRPr>
            </a:p>
          </p:txBody>
        </p:sp>
        <p:sp>
          <p:nvSpPr>
            <p:cNvPr id="87045" name="Text Box 5"/>
            <p:cNvSpPr txBox="1">
              <a:spLocks noChangeArrowheads="1"/>
            </p:cNvSpPr>
            <p:nvPr/>
          </p:nvSpPr>
          <p:spPr bwMode="auto">
            <a:xfrm>
              <a:off x="1383" y="2115"/>
              <a:ext cx="7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MX" altLang="es-MX" sz="2400" b="1">
                  <a:latin typeface="Comic Sans MS" panose="030F0702030302020204" pitchFamily="66" charset="0"/>
                </a:rPr>
                <a:t>M</a:t>
              </a:r>
              <a:r>
                <a:rPr lang="es-MX" altLang="es-MX" sz="2400" b="1" baseline="-25000">
                  <a:latin typeface="Comic Sans MS" panose="030F0702030302020204" pitchFamily="66" charset="0"/>
                </a:rPr>
                <a:t>2</a:t>
              </a:r>
              <a:endParaRPr lang="en-US" altLang="es-MX" sz="2400" b="1">
                <a:latin typeface="Comic Sans MS" panose="030F0702030302020204" pitchFamily="66" charset="0"/>
              </a:endParaRPr>
            </a:p>
          </p:txBody>
        </p:sp>
        <p:sp>
          <p:nvSpPr>
            <p:cNvPr id="87046" name="Text Box 6"/>
            <p:cNvSpPr txBox="1">
              <a:spLocks noChangeArrowheads="1"/>
            </p:cNvSpPr>
            <p:nvPr/>
          </p:nvSpPr>
          <p:spPr bwMode="auto">
            <a:xfrm>
              <a:off x="1292" y="3203"/>
              <a:ext cx="7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MX" altLang="es-MX" sz="2400" b="1">
                  <a:latin typeface="Comic Sans MS" panose="030F0702030302020204" pitchFamily="66" charset="0"/>
                </a:rPr>
                <a:t>M</a:t>
              </a:r>
              <a:r>
                <a:rPr lang="es-MX" altLang="es-MX" sz="2400" b="1" baseline="-25000">
                  <a:latin typeface="Comic Sans MS" panose="030F0702030302020204" pitchFamily="66" charset="0"/>
                </a:rPr>
                <a:t>3</a:t>
              </a:r>
              <a:endParaRPr lang="en-US" altLang="es-MX" sz="2400" b="1">
                <a:latin typeface="Comic Sans MS" panose="030F0702030302020204" pitchFamily="66" charset="0"/>
              </a:endParaRPr>
            </a:p>
          </p:txBody>
        </p:sp>
        <p:grpSp>
          <p:nvGrpSpPr>
            <p:cNvPr id="87049" name="Group 9"/>
            <p:cNvGrpSpPr>
              <a:grpSpLocks/>
            </p:cNvGrpSpPr>
            <p:nvPr/>
          </p:nvGrpSpPr>
          <p:grpSpPr bwMode="auto">
            <a:xfrm>
              <a:off x="3198" y="3067"/>
              <a:ext cx="500" cy="774"/>
              <a:chOff x="2336" y="482"/>
              <a:chExt cx="408" cy="800"/>
            </a:xfrm>
          </p:grpSpPr>
          <p:sp>
            <p:nvSpPr>
              <p:cNvPr id="87047" name="Text Box 7"/>
              <p:cNvSpPr txBox="1">
                <a:spLocks noChangeArrowheads="1"/>
              </p:cNvSpPr>
              <p:nvPr/>
            </p:nvSpPr>
            <p:spPr bwMode="auto">
              <a:xfrm>
                <a:off x="2336" y="482"/>
                <a:ext cx="317" cy="2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s-MX" altLang="es-MX" sz="2400">
                    <a:latin typeface="Comic Sans MS" panose="030F0702030302020204" pitchFamily="66" charset="0"/>
                  </a:rPr>
                  <a:t>D</a:t>
                </a:r>
                <a:endParaRPr lang="en-US" altLang="es-MX" sz="2400">
                  <a:latin typeface="Comic Sans MS" panose="030F0702030302020204" pitchFamily="66" charset="0"/>
                </a:endParaRPr>
              </a:p>
            </p:txBody>
          </p:sp>
          <p:sp>
            <p:nvSpPr>
              <p:cNvPr id="87048" name="Text Box 8"/>
              <p:cNvSpPr txBox="1">
                <a:spLocks noChangeArrowheads="1"/>
              </p:cNvSpPr>
              <p:nvPr/>
            </p:nvSpPr>
            <p:spPr bwMode="auto">
              <a:xfrm>
                <a:off x="2336" y="981"/>
                <a:ext cx="408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s-MX" altLang="es-MX" sz="2400">
                    <a:latin typeface="Comic Sans MS" panose="030F0702030302020204" pitchFamily="66" charset="0"/>
                  </a:rPr>
                  <a:t>ND</a:t>
                </a:r>
                <a:endParaRPr lang="en-US" altLang="es-MX" sz="2400"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87050" name="Group 10"/>
            <p:cNvGrpSpPr>
              <a:grpSpLocks/>
            </p:cNvGrpSpPr>
            <p:nvPr/>
          </p:nvGrpSpPr>
          <p:grpSpPr bwMode="auto">
            <a:xfrm>
              <a:off x="3152" y="1888"/>
              <a:ext cx="500" cy="774"/>
              <a:chOff x="2336" y="482"/>
              <a:chExt cx="408" cy="799"/>
            </a:xfrm>
          </p:grpSpPr>
          <p:sp>
            <p:nvSpPr>
              <p:cNvPr id="87051" name="Text Box 11"/>
              <p:cNvSpPr txBox="1">
                <a:spLocks noChangeArrowheads="1"/>
              </p:cNvSpPr>
              <p:nvPr/>
            </p:nvSpPr>
            <p:spPr bwMode="auto">
              <a:xfrm>
                <a:off x="2336" y="482"/>
                <a:ext cx="317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s-MX" altLang="es-MX" sz="2400">
                    <a:latin typeface="Comic Sans MS" panose="030F0702030302020204" pitchFamily="66" charset="0"/>
                  </a:rPr>
                  <a:t>D</a:t>
                </a:r>
                <a:endParaRPr lang="en-US" altLang="es-MX" sz="2400">
                  <a:latin typeface="Comic Sans MS" panose="030F0702030302020204" pitchFamily="66" charset="0"/>
                </a:endParaRPr>
              </a:p>
            </p:txBody>
          </p:sp>
          <p:sp>
            <p:nvSpPr>
              <p:cNvPr id="87052" name="Text Box 12"/>
              <p:cNvSpPr txBox="1">
                <a:spLocks noChangeArrowheads="1"/>
              </p:cNvSpPr>
              <p:nvPr/>
            </p:nvSpPr>
            <p:spPr bwMode="auto">
              <a:xfrm>
                <a:off x="2336" y="981"/>
                <a:ext cx="408" cy="3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s-MX" altLang="es-MX" sz="2400">
                    <a:latin typeface="Comic Sans MS" panose="030F0702030302020204" pitchFamily="66" charset="0"/>
                  </a:rPr>
                  <a:t>ND</a:t>
                </a:r>
                <a:endParaRPr lang="en-US" altLang="es-MX" sz="2400"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87053" name="Group 13"/>
            <p:cNvGrpSpPr>
              <a:grpSpLocks/>
            </p:cNvGrpSpPr>
            <p:nvPr/>
          </p:nvGrpSpPr>
          <p:grpSpPr bwMode="auto">
            <a:xfrm>
              <a:off x="3096" y="709"/>
              <a:ext cx="500" cy="774"/>
              <a:chOff x="2336" y="482"/>
              <a:chExt cx="408" cy="800"/>
            </a:xfrm>
          </p:grpSpPr>
          <p:sp>
            <p:nvSpPr>
              <p:cNvPr id="87054" name="Text Box 14"/>
              <p:cNvSpPr txBox="1">
                <a:spLocks noChangeArrowheads="1"/>
              </p:cNvSpPr>
              <p:nvPr/>
            </p:nvSpPr>
            <p:spPr bwMode="auto">
              <a:xfrm>
                <a:off x="2336" y="482"/>
                <a:ext cx="317" cy="2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s-MX" altLang="es-MX" sz="2400">
                    <a:latin typeface="Comic Sans MS" panose="030F0702030302020204" pitchFamily="66" charset="0"/>
                  </a:rPr>
                  <a:t>D</a:t>
                </a:r>
                <a:endParaRPr lang="en-US" altLang="es-MX" sz="2400">
                  <a:latin typeface="Comic Sans MS" panose="030F0702030302020204" pitchFamily="66" charset="0"/>
                </a:endParaRPr>
              </a:p>
            </p:txBody>
          </p:sp>
          <p:sp>
            <p:nvSpPr>
              <p:cNvPr id="87055" name="Text Box 15"/>
              <p:cNvSpPr txBox="1">
                <a:spLocks noChangeArrowheads="1"/>
              </p:cNvSpPr>
              <p:nvPr/>
            </p:nvSpPr>
            <p:spPr bwMode="auto">
              <a:xfrm>
                <a:off x="2336" y="981"/>
                <a:ext cx="408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s-MX" altLang="es-MX" sz="2400">
                    <a:latin typeface="Comic Sans MS" panose="030F0702030302020204" pitchFamily="66" charset="0"/>
                  </a:rPr>
                  <a:t>ND</a:t>
                </a:r>
                <a:endParaRPr lang="en-US" altLang="es-MX" sz="2400"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87056" name="Line 16"/>
            <p:cNvSpPr>
              <a:spLocks noChangeShapeType="1"/>
            </p:cNvSpPr>
            <p:nvPr/>
          </p:nvSpPr>
          <p:spPr bwMode="auto">
            <a:xfrm flipV="1">
              <a:off x="1929" y="841"/>
              <a:ext cx="1167" cy="263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  <p:sp>
          <p:nvSpPr>
            <p:cNvPr id="87057" name="Line 17"/>
            <p:cNvSpPr>
              <a:spLocks noChangeShapeType="1"/>
            </p:cNvSpPr>
            <p:nvPr/>
          </p:nvSpPr>
          <p:spPr bwMode="auto">
            <a:xfrm>
              <a:off x="1929" y="1104"/>
              <a:ext cx="1167" cy="26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  <p:sp>
          <p:nvSpPr>
            <p:cNvPr id="87058" name="Line 18"/>
            <p:cNvSpPr>
              <a:spLocks noChangeShapeType="1"/>
            </p:cNvSpPr>
            <p:nvPr/>
          </p:nvSpPr>
          <p:spPr bwMode="auto">
            <a:xfrm flipV="1">
              <a:off x="1927" y="1979"/>
              <a:ext cx="1277" cy="264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  <p:sp>
          <p:nvSpPr>
            <p:cNvPr id="87059" name="Line 19"/>
            <p:cNvSpPr>
              <a:spLocks noChangeShapeType="1"/>
            </p:cNvSpPr>
            <p:nvPr/>
          </p:nvSpPr>
          <p:spPr bwMode="auto">
            <a:xfrm>
              <a:off x="1927" y="2251"/>
              <a:ext cx="1166" cy="21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  <p:sp>
          <p:nvSpPr>
            <p:cNvPr id="87060" name="Line 20"/>
            <p:cNvSpPr>
              <a:spLocks noChangeShapeType="1"/>
            </p:cNvSpPr>
            <p:nvPr/>
          </p:nvSpPr>
          <p:spPr bwMode="auto">
            <a:xfrm flipV="1">
              <a:off x="1837" y="3158"/>
              <a:ext cx="1277" cy="22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  <p:sp>
          <p:nvSpPr>
            <p:cNvPr id="87061" name="Line 21"/>
            <p:cNvSpPr>
              <a:spLocks noChangeShapeType="1"/>
            </p:cNvSpPr>
            <p:nvPr/>
          </p:nvSpPr>
          <p:spPr bwMode="auto">
            <a:xfrm>
              <a:off x="1837" y="3385"/>
              <a:ext cx="1167" cy="26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  <p:sp>
          <p:nvSpPr>
            <p:cNvPr id="87063" name="Text Box 23"/>
            <p:cNvSpPr txBox="1">
              <a:spLocks noChangeArrowheads="1"/>
            </p:cNvSpPr>
            <p:nvPr/>
          </p:nvSpPr>
          <p:spPr bwMode="auto">
            <a:xfrm>
              <a:off x="431" y="935"/>
              <a:ext cx="861" cy="25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MX" altLang="es-MX" sz="2000">
                  <a:latin typeface="Comic Sans MS" panose="030F0702030302020204" pitchFamily="66" charset="0"/>
                </a:rPr>
                <a:t>P(M</a:t>
              </a:r>
              <a:r>
                <a:rPr lang="es-MX" altLang="es-MX" sz="2000" baseline="-25000">
                  <a:latin typeface="Comic Sans MS" panose="030F0702030302020204" pitchFamily="66" charset="0"/>
                </a:rPr>
                <a:t>1</a:t>
              </a:r>
              <a:r>
                <a:rPr lang="es-MX" altLang="es-MX" sz="2000">
                  <a:latin typeface="Comic Sans MS" panose="030F0702030302020204" pitchFamily="66" charset="0"/>
                </a:rPr>
                <a:t>)=.50</a:t>
              </a:r>
              <a:endParaRPr lang="en-US" altLang="es-MX" sz="2000">
                <a:latin typeface="Comic Sans MS" panose="030F0702030302020204" pitchFamily="66" charset="0"/>
              </a:endParaRPr>
            </a:p>
          </p:txBody>
        </p:sp>
        <p:sp>
          <p:nvSpPr>
            <p:cNvPr id="87064" name="Text Box 24"/>
            <p:cNvSpPr txBox="1">
              <a:spLocks noChangeArrowheads="1"/>
            </p:cNvSpPr>
            <p:nvPr/>
          </p:nvSpPr>
          <p:spPr bwMode="auto">
            <a:xfrm>
              <a:off x="385" y="2115"/>
              <a:ext cx="907" cy="25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MX" altLang="es-MX" sz="2000">
                  <a:latin typeface="Comic Sans MS" panose="030F0702030302020204" pitchFamily="66" charset="0"/>
                </a:rPr>
                <a:t>P(M</a:t>
              </a:r>
              <a:r>
                <a:rPr lang="es-MX" altLang="es-MX" sz="2000" baseline="-25000">
                  <a:latin typeface="Comic Sans MS" panose="030F0702030302020204" pitchFamily="66" charset="0"/>
                </a:rPr>
                <a:t>2</a:t>
              </a:r>
              <a:r>
                <a:rPr lang="es-MX" altLang="es-MX" sz="2000">
                  <a:latin typeface="Comic Sans MS" panose="030F0702030302020204" pitchFamily="66" charset="0"/>
                </a:rPr>
                <a:t>)=.30</a:t>
              </a:r>
              <a:endParaRPr lang="en-US" altLang="es-MX" sz="2000">
                <a:latin typeface="Comic Sans MS" panose="030F0702030302020204" pitchFamily="66" charset="0"/>
              </a:endParaRPr>
            </a:p>
          </p:txBody>
        </p:sp>
        <p:sp>
          <p:nvSpPr>
            <p:cNvPr id="87065" name="Text Box 25"/>
            <p:cNvSpPr txBox="1">
              <a:spLocks noChangeArrowheads="1"/>
            </p:cNvSpPr>
            <p:nvPr/>
          </p:nvSpPr>
          <p:spPr bwMode="auto">
            <a:xfrm>
              <a:off x="340" y="3203"/>
              <a:ext cx="862" cy="25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MX" altLang="es-MX" sz="2000">
                  <a:latin typeface="Comic Sans MS" panose="030F0702030302020204" pitchFamily="66" charset="0"/>
                </a:rPr>
                <a:t>P(M</a:t>
              </a:r>
              <a:r>
                <a:rPr lang="es-MX" altLang="es-MX" sz="2000" baseline="-25000">
                  <a:latin typeface="Comic Sans MS" panose="030F0702030302020204" pitchFamily="66" charset="0"/>
                </a:rPr>
                <a:t>3</a:t>
              </a:r>
              <a:r>
                <a:rPr lang="es-MX" altLang="es-MX" sz="2000">
                  <a:latin typeface="Comic Sans MS" panose="030F0702030302020204" pitchFamily="66" charset="0"/>
                </a:rPr>
                <a:t>)=.20</a:t>
              </a:r>
              <a:endParaRPr lang="en-US" altLang="es-MX" sz="2000">
                <a:latin typeface="Comic Sans MS" panose="030F0702030302020204" pitchFamily="66" charset="0"/>
              </a:endParaRPr>
            </a:p>
          </p:txBody>
        </p:sp>
        <p:sp>
          <p:nvSpPr>
            <p:cNvPr id="87066" name="Text Box 26"/>
            <p:cNvSpPr txBox="1">
              <a:spLocks noChangeArrowheads="1"/>
            </p:cNvSpPr>
            <p:nvPr/>
          </p:nvSpPr>
          <p:spPr bwMode="auto">
            <a:xfrm>
              <a:off x="1882" y="618"/>
              <a:ext cx="1089" cy="231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MX" altLang="es-MX"/>
                <a:t>P(D/M</a:t>
              </a:r>
              <a:r>
                <a:rPr lang="es-MX" altLang="es-MX" baseline="-25000"/>
                <a:t>1</a:t>
              </a:r>
              <a:r>
                <a:rPr lang="es-MX" altLang="es-MX"/>
                <a:t>)=.03</a:t>
              </a:r>
              <a:endParaRPr lang="en-US" altLang="es-MX"/>
            </a:p>
          </p:txBody>
        </p:sp>
        <p:sp>
          <p:nvSpPr>
            <p:cNvPr id="87067" name="Text Box 27"/>
            <p:cNvSpPr txBox="1">
              <a:spLocks noChangeArrowheads="1"/>
            </p:cNvSpPr>
            <p:nvPr/>
          </p:nvSpPr>
          <p:spPr bwMode="auto">
            <a:xfrm>
              <a:off x="1927" y="1344"/>
              <a:ext cx="1089" cy="231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MX" altLang="es-MX"/>
                <a:t>P(ND/M</a:t>
              </a:r>
              <a:r>
                <a:rPr lang="es-MX" altLang="es-MX" baseline="-25000"/>
                <a:t>1</a:t>
              </a:r>
              <a:r>
                <a:rPr lang="es-MX" altLang="es-MX"/>
                <a:t>)=.97</a:t>
              </a:r>
              <a:endParaRPr lang="en-US" altLang="es-MX"/>
            </a:p>
          </p:txBody>
        </p:sp>
        <p:sp>
          <p:nvSpPr>
            <p:cNvPr id="87068" name="Text Box 28"/>
            <p:cNvSpPr txBox="1">
              <a:spLocks noChangeArrowheads="1"/>
            </p:cNvSpPr>
            <p:nvPr/>
          </p:nvSpPr>
          <p:spPr bwMode="auto">
            <a:xfrm>
              <a:off x="1927" y="1797"/>
              <a:ext cx="1089" cy="231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MX" altLang="es-MX"/>
                <a:t>P(D/M</a:t>
              </a:r>
              <a:r>
                <a:rPr lang="es-MX" altLang="es-MX" baseline="-25000"/>
                <a:t>2</a:t>
              </a:r>
              <a:r>
                <a:rPr lang="es-MX" altLang="es-MX"/>
                <a:t>)=.04</a:t>
              </a:r>
              <a:endParaRPr lang="en-US" altLang="es-MX"/>
            </a:p>
          </p:txBody>
        </p:sp>
        <p:sp>
          <p:nvSpPr>
            <p:cNvPr id="87069" name="Text Box 29"/>
            <p:cNvSpPr txBox="1">
              <a:spLocks noChangeArrowheads="1"/>
            </p:cNvSpPr>
            <p:nvPr/>
          </p:nvSpPr>
          <p:spPr bwMode="auto">
            <a:xfrm>
              <a:off x="1882" y="2931"/>
              <a:ext cx="1089" cy="231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MX" altLang="es-MX"/>
                <a:t>P(D/M</a:t>
              </a:r>
              <a:r>
                <a:rPr lang="es-MX" altLang="es-MX" baseline="-25000"/>
                <a:t>3</a:t>
              </a:r>
              <a:r>
                <a:rPr lang="es-MX" altLang="es-MX"/>
                <a:t>)=.05</a:t>
              </a:r>
              <a:endParaRPr lang="en-US" altLang="es-MX"/>
            </a:p>
          </p:txBody>
        </p:sp>
        <p:sp>
          <p:nvSpPr>
            <p:cNvPr id="87070" name="Text Box 30"/>
            <p:cNvSpPr txBox="1">
              <a:spLocks noChangeArrowheads="1"/>
            </p:cNvSpPr>
            <p:nvPr/>
          </p:nvSpPr>
          <p:spPr bwMode="auto">
            <a:xfrm>
              <a:off x="1882" y="2478"/>
              <a:ext cx="1089" cy="231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MX" altLang="es-MX"/>
                <a:t>P(ND/M</a:t>
              </a:r>
              <a:r>
                <a:rPr lang="es-MX" altLang="es-MX" baseline="-25000"/>
                <a:t>2</a:t>
              </a:r>
              <a:r>
                <a:rPr lang="es-MX" altLang="es-MX"/>
                <a:t>)=.96</a:t>
              </a:r>
              <a:endParaRPr lang="en-US" altLang="es-MX"/>
            </a:p>
          </p:txBody>
        </p:sp>
        <p:sp>
          <p:nvSpPr>
            <p:cNvPr id="87071" name="Text Box 31"/>
            <p:cNvSpPr txBox="1">
              <a:spLocks noChangeArrowheads="1"/>
            </p:cNvSpPr>
            <p:nvPr/>
          </p:nvSpPr>
          <p:spPr bwMode="auto">
            <a:xfrm>
              <a:off x="1837" y="3748"/>
              <a:ext cx="1089" cy="231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MX" altLang="es-MX"/>
                <a:t>P(ND/M</a:t>
              </a:r>
              <a:r>
                <a:rPr lang="es-MX" altLang="es-MX" baseline="-25000"/>
                <a:t>3</a:t>
              </a:r>
              <a:r>
                <a:rPr lang="es-MX" altLang="es-MX"/>
                <a:t>)=.95</a:t>
              </a:r>
              <a:endParaRPr lang="en-US" altLang="es-MX"/>
            </a:p>
          </p:txBody>
        </p:sp>
        <p:sp>
          <p:nvSpPr>
            <p:cNvPr id="87072" name="Text Box 32"/>
            <p:cNvSpPr txBox="1">
              <a:spLocks noChangeArrowheads="1"/>
            </p:cNvSpPr>
            <p:nvPr/>
          </p:nvSpPr>
          <p:spPr bwMode="auto">
            <a:xfrm>
              <a:off x="3424" y="709"/>
              <a:ext cx="2336" cy="25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MX" altLang="es-MX" sz="2000">
                  <a:latin typeface="Comic Sans MS" panose="030F0702030302020204" pitchFamily="66" charset="0"/>
                </a:rPr>
                <a:t>P(M</a:t>
              </a:r>
              <a:r>
                <a:rPr lang="es-MX" altLang="es-MX" sz="2000" baseline="-25000">
                  <a:latin typeface="Comic Sans MS" panose="030F0702030302020204" pitchFamily="66" charset="0"/>
                </a:rPr>
                <a:t>1</a:t>
              </a:r>
              <a:r>
                <a:rPr lang="es-MX" altLang="es-MX" sz="2000">
                  <a:latin typeface="Comic Sans MS" panose="030F0702030302020204" pitchFamily="66" charset="0"/>
                </a:rPr>
                <a:t>)*P(D/M</a:t>
              </a:r>
              <a:r>
                <a:rPr lang="es-MX" altLang="es-MX" sz="2000" baseline="-25000">
                  <a:latin typeface="Comic Sans MS" panose="030F0702030302020204" pitchFamily="66" charset="0"/>
                </a:rPr>
                <a:t>1</a:t>
              </a:r>
              <a:r>
                <a:rPr lang="es-MX" altLang="es-MX" sz="2000">
                  <a:latin typeface="Comic Sans MS" panose="030F0702030302020204" pitchFamily="66" charset="0"/>
                </a:rPr>
                <a:t>)=.5*.03=.015</a:t>
              </a:r>
              <a:endParaRPr lang="en-US" altLang="es-MX" sz="2000">
                <a:latin typeface="Comic Sans MS" panose="030F0702030302020204" pitchFamily="66" charset="0"/>
              </a:endParaRPr>
            </a:p>
          </p:txBody>
        </p:sp>
        <p:sp>
          <p:nvSpPr>
            <p:cNvPr id="87073" name="Text Box 33"/>
            <p:cNvSpPr txBox="1">
              <a:spLocks noChangeArrowheads="1"/>
            </p:cNvSpPr>
            <p:nvPr/>
          </p:nvSpPr>
          <p:spPr bwMode="auto">
            <a:xfrm>
              <a:off x="3470" y="1797"/>
              <a:ext cx="2290" cy="25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MX" altLang="es-MX" sz="2000">
                  <a:latin typeface="Comic Sans MS" panose="030F0702030302020204" pitchFamily="66" charset="0"/>
                </a:rPr>
                <a:t>P(M</a:t>
              </a:r>
              <a:r>
                <a:rPr lang="es-MX" altLang="es-MX" sz="2000" baseline="-25000">
                  <a:latin typeface="Comic Sans MS" panose="030F0702030302020204" pitchFamily="66" charset="0"/>
                </a:rPr>
                <a:t>2</a:t>
              </a:r>
              <a:r>
                <a:rPr lang="es-MX" altLang="es-MX" sz="2000">
                  <a:latin typeface="Comic Sans MS" panose="030F0702030302020204" pitchFamily="66" charset="0"/>
                </a:rPr>
                <a:t>)*P(D/M</a:t>
              </a:r>
              <a:r>
                <a:rPr lang="es-MX" altLang="es-MX" sz="2000" baseline="-25000">
                  <a:latin typeface="Comic Sans MS" panose="030F0702030302020204" pitchFamily="66" charset="0"/>
                </a:rPr>
                <a:t>2</a:t>
              </a:r>
              <a:r>
                <a:rPr lang="es-MX" altLang="es-MX" sz="2000">
                  <a:latin typeface="Comic Sans MS" panose="030F0702030302020204" pitchFamily="66" charset="0"/>
                </a:rPr>
                <a:t>)=.3*.04=.012</a:t>
              </a:r>
              <a:endParaRPr lang="en-US" altLang="es-MX" sz="2000">
                <a:latin typeface="Comic Sans MS" panose="030F0702030302020204" pitchFamily="66" charset="0"/>
              </a:endParaRPr>
            </a:p>
          </p:txBody>
        </p:sp>
        <p:sp>
          <p:nvSpPr>
            <p:cNvPr id="87074" name="Text Box 34"/>
            <p:cNvSpPr txBox="1">
              <a:spLocks noChangeArrowheads="1"/>
            </p:cNvSpPr>
            <p:nvPr/>
          </p:nvSpPr>
          <p:spPr bwMode="auto">
            <a:xfrm>
              <a:off x="3560" y="3022"/>
              <a:ext cx="2200" cy="25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MX" altLang="es-MX" sz="2000">
                  <a:latin typeface="Comic Sans MS" panose="030F0702030302020204" pitchFamily="66" charset="0"/>
                </a:rPr>
                <a:t>P(M</a:t>
              </a:r>
              <a:r>
                <a:rPr lang="es-MX" altLang="es-MX" sz="2000" baseline="-25000">
                  <a:latin typeface="Comic Sans MS" panose="030F0702030302020204" pitchFamily="66" charset="0"/>
                </a:rPr>
                <a:t>1</a:t>
              </a:r>
              <a:r>
                <a:rPr lang="es-MX" altLang="es-MX" sz="2000">
                  <a:latin typeface="Comic Sans MS" panose="030F0702030302020204" pitchFamily="66" charset="0"/>
                </a:rPr>
                <a:t>)*P(D/M</a:t>
              </a:r>
              <a:r>
                <a:rPr lang="es-MX" altLang="es-MX" sz="2000" baseline="-25000">
                  <a:latin typeface="Comic Sans MS" panose="030F0702030302020204" pitchFamily="66" charset="0"/>
                </a:rPr>
                <a:t>1</a:t>
              </a:r>
              <a:r>
                <a:rPr lang="es-MX" altLang="es-MX" sz="2000">
                  <a:latin typeface="Comic Sans MS" panose="030F0702030302020204" pitchFamily="66" charset="0"/>
                </a:rPr>
                <a:t>)=.2*.05=.01</a:t>
              </a:r>
              <a:endParaRPr lang="en-US" altLang="es-MX" sz="2000">
                <a:latin typeface="Comic Sans MS" panose="030F0702030302020204" pitchFamily="66" charset="0"/>
              </a:endParaRPr>
            </a:p>
          </p:txBody>
        </p:sp>
        <p:sp>
          <p:nvSpPr>
            <p:cNvPr id="87075" name="Text Box 35"/>
            <p:cNvSpPr txBox="1">
              <a:spLocks noChangeArrowheads="1"/>
            </p:cNvSpPr>
            <p:nvPr/>
          </p:nvSpPr>
          <p:spPr bwMode="auto">
            <a:xfrm>
              <a:off x="3515" y="3917"/>
              <a:ext cx="2006" cy="250"/>
            </a:xfrm>
            <a:prstGeom prst="rect">
              <a:avLst/>
            </a:prstGeom>
            <a:solidFill>
              <a:srgbClr val="00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MX" altLang="es-MX" sz="2000">
                  <a:latin typeface="Comic Sans MS" panose="030F0702030302020204" pitchFamily="66" charset="0"/>
                </a:rPr>
                <a:t>P(D) = .015+.012+.01=.037</a:t>
              </a:r>
              <a:endParaRPr lang="en-US" altLang="es-MX" sz="2000">
                <a:latin typeface="Comic Sans MS" panose="030F070203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9335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2424114" y="260351"/>
            <a:ext cx="7426325" cy="360363"/>
          </a:xfrm>
        </p:spPr>
        <p:txBody>
          <a:bodyPr>
            <a:normAutofit fontScale="90000"/>
          </a:bodyPr>
          <a:lstStyle/>
          <a:p>
            <a:r>
              <a:rPr lang="en-US" altLang="es-MX" sz="2800" b="1">
                <a:solidFill>
                  <a:srgbClr val="3333CC"/>
                </a:solidFill>
                <a:latin typeface="Comic Sans MS" panose="030F0702030302020204" pitchFamily="66" charset="0"/>
              </a:rPr>
              <a:t>PROBABILIDAD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9288" y="765176"/>
            <a:ext cx="8424862" cy="5832475"/>
          </a:xfrm>
        </p:spPr>
        <p:txBody>
          <a:bodyPr/>
          <a:lstStyle/>
          <a:p>
            <a:pPr>
              <a:buFontTx/>
              <a:buNone/>
            </a:pPr>
            <a:r>
              <a:rPr lang="es-MX" altLang="es-MX">
                <a:latin typeface="Comic Sans MS" panose="030F0702030302020204" pitchFamily="66" charset="0"/>
              </a:rPr>
              <a:t>Por teorema de Bayes se tiene:</a:t>
            </a:r>
          </a:p>
          <a:p>
            <a:pPr>
              <a:buFontTx/>
              <a:buNone/>
            </a:pPr>
            <a:endParaRPr lang="es-MX" altLang="es-MX">
              <a:latin typeface="Comic Sans MS" panose="030F0702030302020204" pitchFamily="66" charset="0"/>
            </a:endParaRPr>
          </a:p>
          <a:p>
            <a:pPr>
              <a:buFontTx/>
              <a:buNone/>
            </a:pPr>
            <a:endParaRPr lang="es-MX" altLang="es-MX">
              <a:latin typeface="Comic Sans MS" panose="030F0702030302020204" pitchFamily="66" charset="0"/>
            </a:endParaRPr>
          </a:p>
          <a:p>
            <a:pPr>
              <a:buFontTx/>
              <a:buNone/>
            </a:pPr>
            <a:endParaRPr lang="es-MX" altLang="es-MX">
              <a:latin typeface="Comic Sans MS" panose="030F0702030302020204" pitchFamily="66" charset="0"/>
            </a:endParaRPr>
          </a:p>
          <a:p>
            <a:pPr>
              <a:buFontTx/>
              <a:buNone/>
            </a:pPr>
            <a:endParaRPr lang="es-MX" altLang="es-MX">
              <a:latin typeface="Comic Sans MS" panose="030F0702030302020204" pitchFamily="66" charset="0"/>
            </a:endParaRPr>
          </a:p>
          <a:p>
            <a:pPr>
              <a:buFontTx/>
              <a:buNone/>
            </a:pPr>
            <a:endParaRPr lang="es-MX" altLang="es-MX">
              <a:latin typeface="Comic Sans MS" panose="030F0702030302020204" pitchFamily="66" charset="0"/>
            </a:endParaRPr>
          </a:p>
          <a:p>
            <a:pPr>
              <a:buFontTx/>
              <a:buNone/>
            </a:pPr>
            <a:endParaRPr lang="es-MX" altLang="es-MX">
              <a:latin typeface="Comic Sans MS" panose="030F0702030302020204" pitchFamily="66" charset="0"/>
            </a:endParaRPr>
          </a:p>
          <a:p>
            <a:pPr>
              <a:buFontTx/>
              <a:buNone/>
            </a:pPr>
            <a:endParaRPr lang="es-MX" altLang="es-MX">
              <a:latin typeface="Comic Sans MS" panose="030F0702030302020204" pitchFamily="66" charset="0"/>
            </a:endParaRPr>
          </a:p>
          <a:p>
            <a:pPr>
              <a:buFontTx/>
              <a:buNone/>
            </a:pPr>
            <a:r>
              <a:rPr lang="es-MX" altLang="es-MX">
                <a:latin typeface="Comic Sans MS" panose="030F0702030302020204" pitchFamily="66" charset="0"/>
              </a:rPr>
              <a:t>La probabilidad de que el artículo defectuoso se haya producido en la M</a:t>
            </a:r>
            <a:r>
              <a:rPr lang="es-MX" altLang="es-MX" baseline="-25000">
                <a:latin typeface="Comic Sans MS" panose="030F0702030302020204" pitchFamily="66" charset="0"/>
              </a:rPr>
              <a:t>1 </a:t>
            </a:r>
            <a:r>
              <a:rPr lang="es-MX" altLang="es-MX">
                <a:latin typeface="Comic Sans MS" panose="030F0702030302020204" pitchFamily="66" charset="0"/>
              </a:rPr>
              <a:t>es del 40.54%</a:t>
            </a:r>
            <a:endParaRPr lang="en-US" altLang="es-MX">
              <a:latin typeface="Comic Sans MS" panose="030F0702030302020204" pitchFamily="66" charset="0"/>
            </a:endParaRPr>
          </a:p>
        </p:txBody>
      </p:sp>
      <p:sp>
        <p:nvSpPr>
          <p:cNvPr id="89093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s-MX"/>
          </a:p>
        </p:txBody>
      </p:sp>
      <p:graphicFrame>
        <p:nvGraphicFramePr>
          <p:cNvPr id="89092" name="Object 4"/>
          <p:cNvGraphicFramePr>
            <a:graphicFrameLocks noChangeAspect="1"/>
          </p:cNvGraphicFramePr>
          <p:nvPr/>
        </p:nvGraphicFramePr>
        <p:xfrm>
          <a:off x="1919289" y="1989139"/>
          <a:ext cx="8135937" cy="221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1155600" imgH="279360" progId="Equation.3">
                  <p:embed/>
                </p:oleObj>
              </mc:Choice>
              <mc:Fallback>
                <p:oleObj name="Equation" r:id="rId3" imgW="115560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9" y="1989139"/>
                        <a:ext cx="8135937" cy="2211387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4628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417</Words>
  <Application>Microsoft Office PowerPoint</Application>
  <PresentationFormat>Panorámica</PresentationFormat>
  <Paragraphs>58</Paragraphs>
  <Slides>8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Comic Sans MS</vt:lpstr>
      <vt:lpstr>Tema de Office</vt:lpstr>
      <vt:lpstr>Microsoft Equation 3.0</vt:lpstr>
      <vt:lpstr>TEOREMA DE BAYES</vt:lpstr>
      <vt:lpstr>PROBABILIDAD</vt:lpstr>
      <vt:lpstr>PROBABILIDAD</vt:lpstr>
      <vt:lpstr>PROBABILIDAD</vt:lpstr>
      <vt:lpstr>PROBABILIDAD</vt:lpstr>
      <vt:lpstr>PROBABILIDAD</vt:lpstr>
      <vt:lpstr>Presentación de PowerPoint</vt:lpstr>
      <vt:lpstr>PROBABILIDAD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TEOREMA DE BAYES</dc:title>
  <dc:creator>Alejandro Pérezlara Vicuña</dc:creator>
  <cp:lastModifiedBy>Alejandro Pérezlara Vicuña</cp:lastModifiedBy>
  <cp:revision>1</cp:revision>
  <dcterms:created xsi:type="dcterms:W3CDTF">2018-04-07T13:54:43Z</dcterms:created>
  <dcterms:modified xsi:type="dcterms:W3CDTF">2018-04-07T13:55:18Z</dcterms:modified>
</cp:coreProperties>
</file>